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1"/>
  </p:notesMasterIdLst>
  <p:sldIdLst>
    <p:sldId id="260" r:id="rId2"/>
    <p:sldId id="261" r:id="rId3"/>
    <p:sldId id="269" r:id="rId4"/>
    <p:sldId id="270" r:id="rId5"/>
    <p:sldId id="271" r:id="rId6"/>
    <p:sldId id="273" r:id="rId7"/>
    <p:sldId id="263" r:id="rId8"/>
    <p:sldId id="274"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1613"/>
    <a:srgbClr val="476EE1"/>
    <a:srgbClr val="4AFF1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80" autoAdjust="0"/>
    <p:restoredTop sz="96234" autoAdjust="0"/>
  </p:normalViewPr>
  <p:slideViewPr>
    <p:cSldViewPr snapToGrid="0" snapToObjects="1">
      <p:cViewPr varScale="1">
        <p:scale>
          <a:sx n="128" d="100"/>
          <a:sy n="128" d="100"/>
        </p:scale>
        <p:origin x="2344" y="176"/>
      </p:cViewPr>
      <p:guideLst>
        <p:guide orient="horz" pos="2184"/>
        <p:guide pos="2880"/>
      </p:guideLst>
    </p:cSldViewPr>
  </p:slideViewPr>
  <p:outlineViewPr>
    <p:cViewPr>
      <p:scale>
        <a:sx n="33" d="100"/>
        <a:sy n="33" d="100"/>
      </p:scale>
      <p:origin x="0" y="32136"/>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E44741-98FA-D246-81DB-5CCA3A4C76F4}" type="datetimeFigureOut">
              <a:rPr lang="en-US" smtClean="0"/>
              <a:t>3/25/26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F88DE0-09FA-0042-BC4F-C07494E5AF68}" type="slidenum">
              <a:rPr lang="en-US" smtClean="0"/>
              <a:t>‹#›</a:t>
            </a:fld>
            <a:endParaRPr lang="en-US"/>
          </a:p>
        </p:txBody>
      </p:sp>
    </p:spTree>
    <p:extLst>
      <p:ext uri="{BB962C8B-B14F-4D97-AF65-F5344CB8AC3E}">
        <p14:creationId xmlns:p14="http://schemas.microsoft.com/office/powerpoint/2010/main" val="33002455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763" y="-75486"/>
            <a:ext cx="8300720" cy="1143000"/>
          </a:xfrm>
        </p:spPr>
        <p:txBody>
          <a:bodyPr/>
          <a:lstStyle>
            <a:lvl1pPr algn="l">
              <a:defRPr sz="2400" b="0" i="0">
                <a:solidFill>
                  <a:srgbClr val="761613"/>
                </a:solidFill>
                <a:latin typeface="Avenir Book" panose="02000503020000020003" pitchFamily="2" charset="0"/>
              </a:defRPr>
            </a:lvl1pPr>
          </a:lstStyle>
          <a:p>
            <a:r>
              <a:rPr lang="en-US"/>
              <a:t>Click to edit Master title style</a:t>
            </a:r>
            <a:endParaRPr lang="en-US" dirty="0"/>
          </a:p>
        </p:txBody>
      </p:sp>
      <p:sp>
        <p:nvSpPr>
          <p:cNvPr id="3" name="Content Placeholder 2"/>
          <p:cNvSpPr>
            <a:spLocks noGrp="1"/>
          </p:cNvSpPr>
          <p:nvPr>
            <p:ph idx="1"/>
          </p:nvPr>
        </p:nvSpPr>
        <p:spPr>
          <a:xfrm>
            <a:off x="367748" y="1745974"/>
            <a:ext cx="8229600" cy="2620963"/>
          </a:xfrm>
        </p:spPr>
        <p:txBody>
          <a:bodyPr/>
          <a:lstStyle>
            <a:lvl1pPr>
              <a:defRPr sz="2100" b="0" i="0">
                <a:solidFill>
                  <a:schemeClr val="bg1"/>
                </a:solidFill>
                <a:latin typeface="Avenir Book" panose="02000503020000020003" pitchFamily="2" charset="0"/>
              </a:defRPr>
            </a:lvl1pPr>
            <a:lvl2pPr>
              <a:defRPr sz="1800" b="0" i="0">
                <a:solidFill>
                  <a:schemeClr val="accent3">
                    <a:lumMod val="60000"/>
                    <a:lumOff val="40000"/>
                  </a:schemeClr>
                </a:solidFill>
                <a:latin typeface="Avenir Book" panose="02000503020000020003" pitchFamily="2" charset="0"/>
              </a:defRPr>
            </a:lvl2pPr>
            <a:lvl3pPr>
              <a:defRPr sz="1800" b="0" i="0">
                <a:solidFill>
                  <a:schemeClr val="accent3">
                    <a:lumMod val="60000"/>
                    <a:lumOff val="40000"/>
                  </a:schemeClr>
                </a:solidFill>
                <a:latin typeface="Avenir Book" panose="02000503020000020003" pitchFamily="2" charset="0"/>
              </a:defRPr>
            </a:lvl3pPr>
            <a:lvl4pPr>
              <a:defRPr sz="1800" b="0" i="0">
                <a:solidFill>
                  <a:schemeClr val="accent3">
                    <a:lumMod val="60000"/>
                    <a:lumOff val="40000"/>
                  </a:schemeClr>
                </a:solidFill>
                <a:latin typeface="Avenir Book" panose="02000503020000020003" pitchFamily="2" charset="0"/>
              </a:defRPr>
            </a:lvl4pPr>
            <a:lvl5pPr>
              <a:defRPr sz="1800" b="0" i="0">
                <a:solidFill>
                  <a:schemeClr val="accent3">
                    <a:lumMod val="60000"/>
                    <a:lumOff val="40000"/>
                  </a:schemeClr>
                </a:solidFill>
                <a:latin typeface="Avenir Book"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37D3B09E-9F65-4899-C64B-79B22C5E4CB0}"/>
              </a:ext>
            </a:extLst>
          </p:cNvPr>
          <p:cNvPicPr>
            <a:picLocks noChangeAspect="1"/>
          </p:cNvPicPr>
          <p:nvPr userDrawn="1"/>
        </p:nvPicPr>
        <p:blipFill>
          <a:blip r:embed="rId2"/>
          <a:stretch>
            <a:fillRect/>
          </a:stretch>
        </p:blipFill>
        <p:spPr>
          <a:xfrm>
            <a:off x="0" y="751126"/>
            <a:ext cx="9144000" cy="316388"/>
          </a:xfrm>
          <a:prstGeom prst="rect">
            <a:avLst/>
          </a:prstGeom>
        </p:spPr>
      </p:pic>
      <p:pic>
        <p:nvPicPr>
          <p:cNvPr id="10" name="Content Placeholder 11" descr="A red and black cube&#10;&#10;Description automatically generated">
            <a:extLst>
              <a:ext uri="{FF2B5EF4-FFF2-40B4-BE49-F238E27FC236}">
                <a16:creationId xmlns:a16="http://schemas.microsoft.com/office/drawing/2014/main" id="{5B349350-96C4-539C-439A-2BC21D696EB1}"/>
              </a:ext>
            </a:extLst>
          </p:cNvPr>
          <p:cNvPicPr>
            <a:picLocks noChangeAspect="1"/>
          </p:cNvPicPr>
          <p:nvPr userDrawn="1"/>
        </p:nvPicPr>
        <p:blipFill>
          <a:blip r:embed="rId3"/>
          <a:stretch>
            <a:fillRect/>
          </a:stretch>
        </p:blipFill>
        <p:spPr bwMode="auto">
          <a:xfrm>
            <a:off x="8534400" y="6427946"/>
            <a:ext cx="497960" cy="3487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118466997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6080" y="122238"/>
            <a:ext cx="830072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386080" y="1603734"/>
            <a:ext cx="8229600" cy="2620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txStyles>
    <p:titleStyle>
      <a:lvl1pPr algn="l" rtl="0" eaLnBrk="1" fontAlgn="base" hangingPunct="1">
        <a:spcBef>
          <a:spcPct val="0"/>
        </a:spcBef>
        <a:spcAft>
          <a:spcPct val="0"/>
        </a:spcAft>
        <a:defRPr sz="2400">
          <a:solidFill>
            <a:srgbClr val="761613"/>
          </a:solidFill>
          <a:latin typeface="Avenir Book" panose="02000503020000020003" pitchFamily="2" charset="0"/>
          <a:ea typeface="ＭＳ Ｐゴシック" charset="0"/>
          <a:cs typeface="Avenir Book" panose="02000503020000020003" pitchFamily="2" charset="0"/>
        </a:defRPr>
      </a:lvl1pPr>
      <a:lvl2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2pPr>
      <a:lvl3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3pPr>
      <a:lvl4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4pPr>
      <a:lvl5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3200">
          <a:solidFill>
            <a:srgbClr val="FFFF66"/>
          </a:solidFill>
          <a:latin typeface="Myriad Pro" pitchFamily="34" charset="0"/>
        </a:defRPr>
      </a:lvl6pPr>
      <a:lvl7pPr marL="914400" algn="ctr" rtl="0" eaLnBrk="1" fontAlgn="base" hangingPunct="1">
        <a:spcBef>
          <a:spcPct val="0"/>
        </a:spcBef>
        <a:spcAft>
          <a:spcPct val="0"/>
        </a:spcAft>
        <a:defRPr sz="3200">
          <a:solidFill>
            <a:srgbClr val="FFFF66"/>
          </a:solidFill>
          <a:latin typeface="Myriad Pro" pitchFamily="34" charset="0"/>
        </a:defRPr>
      </a:lvl7pPr>
      <a:lvl8pPr marL="1371600" algn="ctr" rtl="0" eaLnBrk="1" fontAlgn="base" hangingPunct="1">
        <a:spcBef>
          <a:spcPct val="0"/>
        </a:spcBef>
        <a:spcAft>
          <a:spcPct val="0"/>
        </a:spcAft>
        <a:defRPr sz="3200">
          <a:solidFill>
            <a:srgbClr val="FFFF66"/>
          </a:solidFill>
          <a:latin typeface="Myriad Pro" pitchFamily="34" charset="0"/>
        </a:defRPr>
      </a:lvl8pPr>
      <a:lvl9pPr marL="1828800" algn="ctr" rtl="0" eaLnBrk="1" fontAlgn="base" hangingPunct="1">
        <a:spcBef>
          <a:spcPct val="0"/>
        </a:spcBef>
        <a:spcAft>
          <a:spcPct val="0"/>
        </a:spcAft>
        <a:defRPr sz="3200">
          <a:solidFill>
            <a:srgbClr val="FFFF66"/>
          </a:solidFill>
          <a:latin typeface="Myriad Pro" pitchFamily="34" charset="0"/>
        </a:defRPr>
      </a:lvl9pPr>
    </p:titleStyle>
    <p:bodyStyle>
      <a:lvl1pPr marL="342900" indent="-342900" algn="l" rtl="0" eaLnBrk="1" fontAlgn="base" hangingPunct="1">
        <a:spcBef>
          <a:spcPct val="20000"/>
        </a:spcBef>
        <a:spcAft>
          <a:spcPct val="0"/>
        </a:spcAft>
        <a:buChar char="•"/>
        <a:defRPr sz="200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wnwang@temple.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66700" y="897256"/>
            <a:ext cx="8610600"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marL="342900" indent="-342900" algn="l" rtl="0" eaLnBrk="0" fontAlgn="base" hangingPunct="0">
              <a:spcBef>
                <a:spcPct val="20000"/>
              </a:spcBef>
              <a:spcAft>
                <a:spcPct val="0"/>
              </a:spcAft>
              <a:buChar char="•"/>
              <a:defRPr sz="2400">
                <a:solidFill>
                  <a:schemeClr val="bg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400">
                <a:solidFill>
                  <a:schemeClr val="bg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bg1"/>
                </a:solidFill>
                <a:latin typeface="+mn-lt"/>
                <a:ea typeface="ＭＳ Ｐゴシック" charset="0"/>
              </a:defRPr>
            </a:lvl3pPr>
            <a:lvl4pPr marL="1600200" indent="-228600" algn="l" rtl="0" eaLnBrk="0" fontAlgn="base" hangingPunct="0">
              <a:spcBef>
                <a:spcPct val="20000"/>
              </a:spcBef>
              <a:spcAft>
                <a:spcPct val="0"/>
              </a:spcAft>
              <a:buChar char="–"/>
              <a:defRPr sz="2400">
                <a:solidFill>
                  <a:schemeClr val="bg1"/>
                </a:solidFill>
                <a:latin typeface="+mn-lt"/>
                <a:ea typeface="ＭＳ Ｐゴシック" charset="0"/>
              </a:defRPr>
            </a:lvl4pPr>
            <a:lvl5pPr marL="2057400" indent="-228600" algn="l" rtl="0" eaLnBrk="0" fontAlgn="base" hangingPunct="0">
              <a:spcBef>
                <a:spcPct val="20000"/>
              </a:spcBef>
              <a:spcAft>
                <a:spcPct val="0"/>
              </a:spcAft>
              <a:buChar char="»"/>
              <a:defRPr sz="2400">
                <a:solidFill>
                  <a:schemeClr val="bg1"/>
                </a:solidFill>
                <a:latin typeface="+mn-lt"/>
                <a:ea typeface="ＭＳ Ｐゴシック" charset="0"/>
              </a:defRPr>
            </a:lvl5pPr>
            <a:lvl6pPr marL="2514600" indent="-228600" algn="l" rtl="0" fontAlgn="base">
              <a:spcBef>
                <a:spcPct val="20000"/>
              </a:spcBef>
              <a:spcAft>
                <a:spcPct val="0"/>
              </a:spcAft>
              <a:buChar char="»"/>
              <a:defRPr sz="2400">
                <a:solidFill>
                  <a:schemeClr val="bg1"/>
                </a:solidFill>
                <a:latin typeface="+mn-lt"/>
              </a:defRPr>
            </a:lvl6pPr>
            <a:lvl7pPr marL="2971800" indent="-228600" algn="l" rtl="0" fontAlgn="base">
              <a:spcBef>
                <a:spcPct val="20000"/>
              </a:spcBef>
              <a:spcAft>
                <a:spcPct val="0"/>
              </a:spcAft>
              <a:buChar char="»"/>
              <a:defRPr sz="2400">
                <a:solidFill>
                  <a:schemeClr val="bg1"/>
                </a:solidFill>
                <a:latin typeface="+mn-lt"/>
              </a:defRPr>
            </a:lvl7pPr>
            <a:lvl8pPr marL="3429000" indent="-228600" algn="l" rtl="0" fontAlgn="base">
              <a:spcBef>
                <a:spcPct val="20000"/>
              </a:spcBef>
              <a:spcAft>
                <a:spcPct val="0"/>
              </a:spcAft>
              <a:buChar char="»"/>
              <a:defRPr sz="2400">
                <a:solidFill>
                  <a:schemeClr val="bg1"/>
                </a:solidFill>
                <a:latin typeface="+mn-lt"/>
              </a:defRPr>
            </a:lvl8pPr>
            <a:lvl9pPr marL="3886200" indent="-228600" algn="l" rtl="0" fontAlgn="base">
              <a:spcBef>
                <a:spcPct val="20000"/>
              </a:spcBef>
              <a:spcAft>
                <a:spcPct val="0"/>
              </a:spcAft>
              <a:buChar char="»"/>
              <a:defRPr sz="2400">
                <a:solidFill>
                  <a:schemeClr val="bg1"/>
                </a:solidFill>
                <a:latin typeface="+mn-lt"/>
              </a:defRPr>
            </a:lvl9pPr>
          </a:lstStyle>
          <a:p>
            <a:pPr algn="ctr" eaLnBrk="1" fontAlgn="auto" hangingPunct="1">
              <a:spcAft>
                <a:spcPts val="0"/>
              </a:spcAft>
              <a:buNone/>
              <a:defRPr/>
            </a:pPr>
            <a:r>
              <a:rPr lang="en-US" dirty="0">
                <a:solidFill>
                  <a:srgbClr val="761613"/>
                </a:solidFill>
                <a:latin typeface="Avenir"/>
                <a:ea typeface="+mn-ea"/>
                <a:cs typeface="Avenir"/>
              </a:rPr>
              <a:t>Dyadic Behavioral Asymmetry and Linguistic Alignment: an Effort-Reward Perspective</a:t>
            </a:r>
          </a:p>
          <a:p>
            <a:pPr algn="ctr" eaLnBrk="1" fontAlgn="auto" hangingPunct="1">
              <a:spcAft>
                <a:spcPts val="0"/>
              </a:spcAft>
              <a:buNone/>
              <a:defRPr/>
            </a:pPr>
            <a:endParaRPr lang="en-US" dirty="0">
              <a:solidFill>
                <a:srgbClr val="761613"/>
              </a:solidFill>
              <a:latin typeface="Avenir"/>
              <a:ea typeface="+mn-ea"/>
              <a:cs typeface="Avenir"/>
            </a:endParaRPr>
          </a:p>
          <a:p>
            <a:pPr algn="ctr" eaLnBrk="1" fontAlgn="auto" hangingPunct="1">
              <a:spcAft>
                <a:spcPts val="0"/>
              </a:spcAft>
              <a:buNone/>
              <a:defRPr/>
            </a:pPr>
            <a:r>
              <a:rPr lang="en-US" dirty="0">
                <a:solidFill>
                  <a:srgbClr val="761613"/>
                </a:solidFill>
                <a:latin typeface="Avenir"/>
                <a:ea typeface="+mn-ea"/>
                <a:cs typeface="Avenir"/>
              </a:rPr>
              <a:t>or:</a:t>
            </a:r>
          </a:p>
          <a:p>
            <a:pPr algn="ctr" eaLnBrk="1" fontAlgn="auto" hangingPunct="1">
              <a:spcAft>
                <a:spcPts val="0"/>
              </a:spcAft>
              <a:buNone/>
              <a:defRPr/>
            </a:pPr>
            <a:endParaRPr lang="en-US" dirty="0">
              <a:solidFill>
                <a:srgbClr val="761613"/>
              </a:solidFill>
              <a:latin typeface="Avenir"/>
              <a:ea typeface="+mn-ea"/>
              <a:cs typeface="Avenir"/>
            </a:endParaRPr>
          </a:p>
          <a:p>
            <a:pPr algn="ctr" eaLnBrk="1" fontAlgn="auto" hangingPunct="1">
              <a:spcAft>
                <a:spcPts val="0"/>
              </a:spcAft>
              <a:buNone/>
              <a:defRPr/>
            </a:pPr>
            <a:r>
              <a:rPr lang="en-US" dirty="0">
                <a:solidFill>
                  <a:srgbClr val="761613"/>
                </a:solidFill>
                <a:latin typeface="Avenir"/>
                <a:ea typeface="+mn-ea"/>
                <a:cs typeface="Avenir"/>
              </a:rPr>
              <a:t>The Down Bad Index and Other Fun Things</a:t>
            </a:r>
          </a:p>
        </p:txBody>
      </p:sp>
      <p:sp>
        <p:nvSpPr>
          <p:cNvPr id="3" name="Content Placeholder 2">
            <a:extLst>
              <a:ext uri="{FF2B5EF4-FFF2-40B4-BE49-F238E27FC236}">
                <a16:creationId xmlns:a16="http://schemas.microsoft.com/office/drawing/2014/main" id="{592EB14F-1A68-32EA-326F-5C05D5D679AF}"/>
              </a:ext>
            </a:extLst>
          </p:cNvPr>
          <p:cNvSpPr>
            <a:spLocks noGrp="1"/>
          </p:cNvSpPr>
          <p:nvPr>
            <p:ph idx="1"/>
          </p:nvPr>
        </p:nvSpPr>
        <p:spPr>
          <a:xfrm>
            <a:off x="266700" y="4750677"/>
            <a:ext cx="8229600" cy="1649440"/>
          </a:xfrm>
        </p:spPr>
        <p:txBody>
          <a:bodyPr/>
          <a:lstStyle/>
          <a:p>
            <a:pPr marL="0" indent="0">
              <a:buNone/>
            </a:pPr>
            <a:r>
              <a:rPr lang="en-US" dirty="0" err="1"/>
              <a:t>shawn</a:t>
            </a:r>
            <a:r>
              <a:rPr lang="en-US" dirty="0"/>
              <a:t> wang</a:t>
            </a:r>
          </a:p>
          <a:p>
            <a:pPr marL="0" indent="0">
              <a:buNone/>
            </a:pPr>
            <a:r>
              <a:rPr lang="en-US" dirty="0">
                <a:hlinkClick r:id="rId2"/>
              </a:rPr>
              <a:t>shawnwang@temple.edu</a:t>
            </a:r>
            <a:endParaRPr lang="en-US" dirty="0"/>
          </a:p>
          <a:p>
            <a:pPr marL="0" indent="0">
              <a:buNone/>
            </a:pPr>
            <a:r>
              <a:rPr lang="en-US" dirty="0" err="1"/>
              <a:t>github.com</a:t>
            </a:r>
            <a:r>
              <a:rPr lang="en-US" dirty="0"/>
              <a:t>/</a:t>
            </a:r>
            <a:r>
              <a:rPr lang="en-US" dirty="0" err="1"/>
              <a:t>fsleyes</a:t>
            </a:r>
            <a:endParaRPr lang="en-US" dirty="0"/>
          </a:p>
        </p:txBody>
      </p:sp>
    </p:spTree>
    <p:extLst>
      <p:ext uri="{BB962C8B-B14F-4D97-AF65-F5344CB8AC3E}">
        <p14:creationId xmlns:p14="http://schemas.microsoft.com/office/powerpoint/2010/main" val="2809491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359BF-AD98-69ED-0D99-2C0E1B7C2F06}"/>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9D872763-B96E-99EE-9B7A-24C58BE82F2C}"/>
              </a:ext>
            </a:extLst>
          </p:cNvPr>
          <p:cNvSpPr>
            <a:spLocks noGrp="1"/>
          </p:cNvSpPr>
          <p:nvPr>
            <p:ph idx="1"/>
          </p:nvPr>
        </p:nvSpPr>
        <p:spPr>
          <a:xfrm>
            <a:off x="367748" y="1546277"/>
            <a:ext cx="8229600" cy="4350026"/>
          </a:xfrm>
        </p:spPr>
        <p:txBody>
          <a:bodyPr/>
          <a:lstStyle/>
          <a:p>
            <a:r>
              <a:rPr lang="en-US" dirty="0"/>
              <a:t>Social motivation is closely tied to a number of mental health outcomes, specifically within the field of mood disorders (Alloy et al., 2016)</a:t>
            </a:r>
          </a:p>
          <a:p>
            <a:r>
              <a:rPr lang="en-US" dirty="0"/>
              <a:t>In unipolar depression, anhedonia is a core symptom and is strongly linked to reduced motivation to pursue rewarding activities, such as social interactions (Gandhi et al., 2022)</a:t>
            </a:r>
          </a:p>
          <a:p>
            <a:r>
              <a:rPr lang="en-US" dirty="0"/>
              <a:t>In contrast, hypomanic and manic episodes in bipolar spectrum disorders (BSDs) feature increased talkativeness or pressured speech as a symptom (Crocamo et al., 2025; </a:t>
            </a:r>
            <a:r>
              <a:rPr lang="en-US" dirty="0" err="1"/>
              <a:t>Nusslock</a:t>
            </a:r>
            <a:r>
              <a:rPr lang="en-US" dirty="0"/>
              <a:t> et al., 2025).</a:t>
            </a:r>
          </a:p>
          <a:p>
            <a:endParaRPr lang="en-US" dirty="0"/>
          </a:p>
        </p:txBody>
      </p:sp>
    </p:spTree>
    <p:extLst>
      <p:ext uri="{BB962C8B-B14F-4D97-AF65-F5344CB8AC3E}">
        <p14:creationId xmlns:p14="http://schemas.microsoft.com/office/powerpoint/2010/main" val="384095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4665-127A-B7F9-CC6E-EBA099C65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02E9C-75E4-21B4-FD39-796FE6E18A53}"/>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D689EFF0-6559-6AC2-8982-9421BFFD81C9}"/>
              </a:ext>
            </a:extLst>
          </p:cNvPr>
          <p:cNvSpPr>
            <a:spLocks noGrp="1"/>
          </p:cNvSpPr>
          <p:nvPr>
            <p:ph idx="1"/>
          </p:nvPr>
        </p:nvSpPr>
        <p:spPr>
          <a:xfrm>
            <a:off x="367748" y="1546277"/>
            <a:ext cx="8229600" cy="4350026"/>
          </a:xfrm>
        </p:spPr>
        <p:txBody>
          <a:bodyPr/>
          <a:lstStyle/>
          <a:p>
            <a:r>
              <a:rPr lang="en-US" dirty="0"/>
              <a:t>Within this framework, tasks such as the Effort Expenditure for Rewards Task attempt to provide an objective behavioral measure of reward motivation, showing that higher anhedonia predicts reduced reward motivation (Treadway et al., 2009).</a:t>
            </a:r>
          </a:p>
          <a:p>
            <a:r>
              <a:rPr lang="en-US" dirty="0"/>
              <a:t>Follow-up work links social anhedonia and depression symptoms to altered effort based decision making for monetary reward (McCarthy et al., 2015). </a:t>
            </a:r>
          </a:p>
          <a:p>
            <a:r>
              <a:rPr lang="en-US" dirty="0"/>
              <a:t>Similarly, evidence among those diagnosed with BSDs show heightened social reward anticipation in fMRI contexts (Alloy et al., 2016). </a:t>
            </a:r>
          </a:p>
          <a:p>
            <a:r>
              <a:rPr lang="en-US" dirty="0"/>
              <a:t>However, the role of social reward effort expenditure in individual with trait reward hypersensitivity is relatively less studied. </a:t>
            </a:r>
          </a:p>
          <a:p>
            <a:endParaRPr lang="en-US" dirty="0"/>
          </a:p>
        </p:txBody>
      </p:sp>
    </p:spTree>
    <p:extLst>
      <p:ext uri="{BB962C8B-B14F-4D97-AF65-F5344CB8AC3E}">
        <p14:creationId xmlns:p14="http://schemas.microsoft.com/office/powerpoint/2010/main" val="375519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894A-6F4E-63AE-88B0-AF5683B03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1FD41-BC45-6F67-A445-06F73A9E10FF}"/>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E327AAAD-3DDB-1C45-27DB-09BECD906A39}"/>
              </a:ext>
            </a:extLst>
          </p:cNvPr>
          <p:cNvSpPr>
            <a:spLocks noGrp="1"/>
          </p:cNvSpPr>
          <p:nvPr>
            <p:ph idx="1"/>
          </p:nvPr>
        </p:nvSpPr>
        <p:spPr>
          <a:xfrm>
            <a:off x="367748" y="1546277"/>
            <a:ext cx="8229600" cy="4350026"/>
          </a:xfrm>
        </p:spPr>
        <p:txBody>
          <a:bodyPr/>
          <a:lstStyle/>
          <a:p>
            <a:r>
              <a:rPr lang="en-US" dirty="0"/>
              <a:t>Findings from studies examining conversations in dyads suggest that linguistic alignment between participants may reflect engagement with each other rather than simple rapport (</a:t>
            </a:r>
            <a:r>
              <a:rPr lang="en-US" dirty="0" err="1"/>
              <a:t>Niederhoffer</a:t>
            </a:r>
            <a:r>
              <a:rPr lang="en-US" dirty="0"/>
              <a:t> &amp; Pennebaker, 2002)</a:t>
            </a:r>
          </a:p>
          <a:p>
            <a:r>
              <a:rPr lang="en-US" dirty="0"/>
              <a:t>This suggests that lexical alignment may represent a proxy of, or at least partially reflective of, effort that one party chooses to expend towards their conversational partner. </a:t>
            </a:r>
          </a:p>
          <a:p>
            <a:r>
              <a:rPr lang="en-US" dirty="0"/>
              <a:t>However, this hypothesis is yet untested, specifically within the domain of affective linguistic alignment (e.g. happiness, sadness, guilt, etc.). </a:t>
            </a:r>
          </a:p>
        </p:txBody>
      </p:sp>
    </p:spTree>
    <p:extLst>
      <p:ext uri="{BB962C8B-B14F-4D97-AF65-F5344CB8AC3E}">
        <p14:creationId xmlns:p14="http://schemas.microsoft.com/office/powerpoint/2010/main" val="69441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9566D-60D2-41BF-07A2-5DD0089E5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E75DB-5D33-A519-451E-D6CE3EA6293B}"/>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4950DE99-87BE-F6D4-7851-54C5E07D73F0}"/>
              </a:ext>
            </a:extLst>
          </p:cNvPr>
          <p:cNvSpPr>
            <a:spLocks noGrp="1"/>
          </p:cNvSpPr>
          <p:nvPr>
            <p:ph idx="1"/>
          </p:nvPr>
        </p:nvSpPr>
        <p:spPr>
          <a:xfrm>
            <a:off x="367748" y="1546277"/>
            <a:ext cx="8229600" cy="4350026"/>
          </a:xfrm>
        </p:spPr>
        <p:txBody>
          <a:bodyPr/>
          <a:lstStyle/>
          <a:p>
            <a:r>
              <a:rPr lang="en-US" dirty="0"/>
              <a:t>Furthermore, communicative effort in naturalistic texting may be treated as a domain-specific analog of effort-based decision making. </a:t>
            </a:r>
          </a:p>
          <a:p>
            <a:r>
              <a:rPr lang="en-US" dirty="0"/>
              <a:t>Individuals choose levels of effort to expend that are reflected through a number of behaviors (e.g. how often to initiate contact, how quickly to respond, how long messages should be, etc.) under uncertain social reward expectations. </a:t>
            </a:r>
          </a:p>
          <a:p>
            <a:r>
              <a:rPr lang="en-US" dirty="0"/>
              <a:t>This operationalization of effort expenditure for social reward is too, yet untested. </a:t>
            </a:r>
          </a:p>
        </p:txBody>
      </p:sp>
    </p:spTree>
    <p:extLst>
      <p:ext uri="{BB962C8B-B14F-4D97-AF65-F5344CB8AC3E}">
        <p14:creationId xmlns:p14="http://schemas.microsoft.com/office/powerpoint/2010/main" val="1121788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C445F-86A7-AAB7-CFBF-45148B267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8351B-3B0A-88A7-2C3F-6F2BDD22F6F1}"/>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Research Question</a:t>
            </a:r>
          </a:p>
        </p:txBody>
      </p:sp>
      <p:sp>
        <p:nvSpPr>
          <p:cNvPr id="14" name="Content Placeholder 13">
            <a:extLst>
              <a:ext uri="{FF2B5EF4-FFF2-40B4-BE49-F238E27FC236}">
                <a16:creationId xmlns:a16="http://schemas.microsoft.com/office/drawing/2014/main" id="{94783DF8-E4FA-9A07-B1A5-790DDA89DC52}"/>
              </a:ext>
            </a:extLst>
          </p:cNvPr>
          <p:cNvSpPr>
            <a:spLocks noGrp="1"/>
          </p:cNvSpPr>
          <p:nvPr>
            <p:ph idx="1"/>
          </p:nvPr>
        </p:nvSpPr>
        <p:spPr>
          <a:xfrm>
            <a:off x="367748" y="2643809"/>
            <a:ext cx="8229600" cy="3252494"/>
          </a:xfrm>
        </p:spPr>
        <p:txBody>
          <a:bodyPr/>
          <a:lstStyle/>
          <a:p>
            <a:pPr marL="0" indent="0" algn="ctr">
              <a:buNone/>
            </a:pPr>
            <a:r>
              <a:rPr lang="en-US" b="1" dirty="0"/>
              <a:t>Thus, I propose that the relationship between behavioral asymmetry and affective linguistic alignment is driven by motivated attention and effort expenditure.</a:t>
            </a:r>
          </a:p>
          <a:p>
            <a:pPr marL="0" indent="0" algn="ctr">
              <a:buNone/>
            </a:pPr>
            <a:endParaRPr lang="en-US" b="1" dirty="0"/>
          </a:p>
          <a:p>
            <a:pPr marL="0" indent="0">
              <a:buNone/>
            </a:pPr>
            <a:r>
              <a:rPr lang="en-US" b="1" dirty="0"/>
              <a:t>Research Question:</a:t>
            </a:r>
          </a:p>
          <a:p>
            <a:pPr marL="0" indent="0">
              <a:buNone/>
            </a:pPr>
            <a:r>
              <a:rPr lang="en-US" b="1" dirty="0"/>
              <a:t>Does the degree of dyadic linguistic alignment on affective dimensions by conversation predict dyadic behavioral asymmetry in that same conversation in a naturalistic text message corpus?</a:t>
            </a:r>
          </a:p>
        </p:txBody>
      </p:sp>
    </p:spTree>
    <p:extLst>
      <p:ext uri="{BB962C8B-B14F-4D97-AF65-F5344CB8AC3E}">
        <p14:creationId xmlns:p14="http://schemas.microsoft.com/office/powerpoint/2010/main" val="936329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DAF1-14CA-A5BC-4F23-C0D416DE2A30}"/>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810F265C-02BE-4550-E97C-F529AFB5D828}"/>
              </a:ext>
            </a:extLst>
          </p:cNvPr>
          <p:cNvSpPr>
            <a:spLocks noGrp="1"/>
          </p:cNvSpPr>
          <p:nvPr>
            <p:ph idx="1"/>
          </p:nvPr>
        </p:nvSpPr>
        <p:spPr/>
        <p:txBody>
          <a:bodyPr/>
          <a:lstStyle/>
          <a:p>
            <a:r>
              <a:rPr lang="en-US" dirty="0"/>
              <a:t>Greater linguistic alignment within a dyad will be negatively associated with dyadic behavioral asymmetry. That is, dyads with higher alignment will show lower behavioral effort asymmetry (i.e. more equal effort across dyad), whereas dyads with lower alignment will show greater behavioral asymmetry (i.e. less equal effort across dyad). </a:t>
            </a:r>
          </a:p>
        </p:txBody>
      </p:sp>
    </p:spTree>
    <p:extLst>
      <p:ext uri="{BB962C8B-B14F-4D97-AF65-F5344CB8AC3E}">
        <p14:creationId xmlns:p14="http://schemas.microsoft.com/office/powerpoint/2010/main" val="998733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3B94D-CA2D-4B1C-DAFA-E861622BC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E7896-D9BF-B9C1-A34B-AF0F24EB0F6B}"/>
              </a:ext>
            </a:extLst>
          </p:cNvPr>
          <p:cNvSpPr>
            <a:spLocks noGrp="1"/>
          </p:cNvSpPr>
          <p:nvPr>
            <p:ph type="title"/>
          </p:nvPr>
        </p:nvSpPr>
        <p:spPr/>
        <p:txBody>
          <a:bodyPr/>
          <a:lstStyle/>
          <a:p>
            <a:r>
              <a:rPr lang="en-US" dirty="0"/>
              <a:t>References</a:t>
            </a:r>
          </a:p>
        </p:txBody>
      </p:sp>
      <p:pic>
        <p:nvPicPr>
          <p:cNvPr id="4" name="Content Placeholder 3">
            <a:extLst>
              <a:ext uri="{FF2B5EF4-FFF2-40B4-BE49-F238E27FC236}">
                <a16:creationId xmlns:a16="http://schemas.microsoft.com/office/drawing/2014/main" id="{34E7A37F-4A6F-AC80-81A3-3BADBACBAF3D}"/>
              </a:ext>
            </a:extLst>
          </p:cNvPr>
          <p:cNvPicPr>
            <a:picLocks noGrp="1" noChangeAspect="1"/>
          </p:cNvPicPr>
          <p:nvPr>
            <p:ph idx="1"/>
          </p:nvPr>
        </p:nvPicPr>
        <p:blipFill>
          <a:blip r:embed="rId2"/>
          <a:stretch>
            <a:fillRect/>
          </a:stretch>
        </p:blipFill>
        <p:spPr>
          <a:xfrm>
            <a:off x="3154074" y="1746250"/>
            <a:ext cx="2658052" cy="2620963"/>
          </a:xfrm>
          <a:prstGeom prst="rect">
            <a:avLst/>
          </a:prstGeom>
        </p:spPr>
      </p:pic>
    </p:spTree>
    <p:extLst>
      <p:ext uri="{BB962C8B-B14F-4D97-AF65-F5344CB8AC3E}">
        <p14:creationId xmlns:p14="http://schemas.microsoft.com/office/powerpoint/2010/main" val="1436469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572B9-AD59-085E-2D8A-08C2B3390C05}"/>
              </a:ext>
            </a:extLst>
          </p:cNvPr>
          <p:cNvSpPr>
            <a:spLocks noGrp="1"/>
          </p:cNvSpPr>
          <p:nvPr>
            <p:ph type="title"/>
          </p:nvPr>
        </p:nvSpPr>
        <p:spPr/>
        <p:txBody>
          <a:bodyPr/>
          <a:lstStyle/>
          <a:p>
            <a:r>
              <a:rPr lang="en-US" dirty="0"/>
              <a:t>Methods: </a:t>
            </a:r>
          </a:p>
        </p:txBody>
      </p:sp>
      <p:sp>
        <p:nvSpPr>
          <p:cNvPr id="3" name="Content Placeholder 2">
            <a:extLst>
              <a:ext uri="{FF2B5EF4-FFF2-40B4-BE49-F238E27FC236}">
                <a16:creationId xmlns:a16="http://schemas.microsoft.com/office/drawing/2014/main" id="{ADE23E56-3929-D9D7-5EFA-00230E07B276}"/>
              </a:ext>
            </a:extLst>
          </p:cNvPr>
          <p:cNvSpPr>
            <a:spLocks noGrp="1"/>
          </p:cNvSpPr>
          <p:nvPr>
            <p:ph idx="1"/>
          </p:nvPr>
        </p:nvSpPr>
        <p:spPr/>
        <p:txBody>
          <a:bodyPr/>
          <a:lstStyle/>
          <a:p>
            <a:pPr marL="0" indent="0">
              <a:buNone/>
            </a:pPr>
            <a:r>
              <a:rPr lang="en-US" dirty="0"/>
              <a:t>To R!</a:t>
            </a:r>
          </a:p>
        </p:txBody>
      </p:sp>
    </p:spTree>
    <p:extLst>
      <p:ext uri="{BB962C8B-B14F-4D97-AF65-F5344CB8AC3E}">
        <p14:creationId xmlns:p14="http://schemas.microsoft.com/office/powerpoint/2010/main" val="3258123948"/>
      </p:ext>
    </p:extLst>
  </p:cSld>
  <p:clrMapOvr>
    <a:masterClrMapping/>
  </p:clrMapOvr>
</p:sld>
</file>

<file path=ppt/theme/theme1.xml><?xml version="1.0" encoding="utf-8"?>
<a:theme xmlns:a="http://schemas.openxmlformats.org/drawingml/2006/main" name="JamieLab2014">
  <a:themeElements>
    <a:clrScheme name="Custom 12">
      <a:dk1>
        <a:srgbClr val="000000"/>
      </a:dk1>
      <a:lt1>
        <a:srgbClr val="000000"/>
      </a:lt1>
      <a:dk2>
        <a:srgbClr val="000000"/>
      </a:dk2>
      <a:lt2>
        <a:srgbClr val="000000"/>
      </a:lt2>
      <a:accent1>
        <a:srgbClr val="1E4649"/>
      </a:accent1>
      <a:accent2>
        <a:srgbClr val="333399"/>
      </a:accent2>
      <a:accent3>
        <a:srgbClr val="7F7F7F"/>
      </a:accent3>
      <a:accent4>
        <a:srgbClr val="000000"/>
      </a:accent4>
      <a:accent5>
        <a:srgbClr val="1E4649"/>
      </a:accent5>
      <a:accent6>
        <a:srgbClr val="2D2D8A"/>
      </a:accent6>
      <a:hlink>
        <a:srgbClr val="4C6600"/>
      </a:hlink>
      <a:folHlink>
        <a:srgbClr val="4C6600"/>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eillyLab_PPT_Template2026" id="{C5142F3F-53BC-2F4A-8A85-B0B7D12C2C01}" vid="{D29BFE51-49DD-0F4A-8254-1507B419CA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1834</TotalTime>
  <Words>526</Words>
  <Application>Microsoft Macintosh PowerPoint</Application>
  <PresentationFormat>On-screen Show (4:3)</PresentationFormat>
  <Paragraphs>35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vt:lpstr>
      <vt:lpstr>Avenir Book</vt:lpstr>
      <vt:lpstr>Calibri</vt:lpstr>
      <vt:lpstr>Myriad Pro</vt:lpstr>
      <vt:lpstr>JamieLab2014</vt:lpstr>
      <vt:lpstr>PowerPoint Presentation</vt:lpstr>
      <vt:lpstr>Introduction</vt:lpstr>
      <vt:lpstr>Introduction</vt:lpstr>
      <vt:lpstr>Introduction</vt:lpstr>
      <vt:lpstr>Introduction</vt:lpstr>
      <vt:lpstr>Research Question</vt:lpstr>
      <vt:lpstr>Hypothesis</vt:lpstr>
      <vt:lpstr>References</vt:lpstr>
      <vt:lpstr>Methods: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Reilly</dc:creator>
  <cp:lastModifiedBy>Shawn Wang</cp:lastModifiedBy>
  <cp:revision>13</cp:revision>
  <cp:lastPrinted>2018-11-26T14:05:20Z</cp:lastPrinted>
  <dcterms:created xsi:type="dcterms:W3CDTF">2023-12-26T00:07:16Z</dcterms:created>
  <dcterms:modified xsi:type="dcterms:W3CDTF">2026-03-25T16:58:48Z</dcterms:modified>
</cp:coreProperties>
</file>