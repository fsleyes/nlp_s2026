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notesMasterIdLst>
    <p:notesMasterId r:id="rId15"/>
  </p:notesMasterIdLst>
  <p:sldIdLst>
    <p:sldId id="257" r:id="rId2"/>
    <p:sldId id="269" r:id="rId3"/>
    <p:sldId id="267" r:id="rId4"/>
    <p:sldId id="270" r:id="rId5"/>
    <p:sldId id="264" r:id="rId6"/>
    <p:sldId id="265" r:id="rId7"/>
    <p:sldId id="266" r:id="rId8"/>
    <p:sldId id="271" r:id="rId9"/>
    <p:sldId id="258" r:id="rId10"/>
    <p:sldId id="259" r:id="rId11"/>
    <p:sldId id="260" r:id="rId12"/>
    <p:sldId id="261"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61613"/>
    <a:srgbClr val="476EE1"/>
    <a:srgbClr val="4AFF1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EAC499-2AED-3343-9751-350CE5E41BBE}" v="8" dt="2026-01-13T21:16:21.3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470" autoAdjust="0"/>
    <p:restoredTop sz="96165" autoAdjust="0"/>
  </p:normalViewPr>
  <p:slideViewPr>
    <p:cSldViewPr snapToGrid="0" snapToObjects="1">
      <p:cViewPr varScale="1">
        <p:scale>
          <a:sx n="117" d="100"/>
          <a:sy n="117" d="100"/>
        </p:scale>
        <p:origin x="2000" y="184"/>
      </p:cViewPr>
      <p:guideLst>
        <p:guide orient="horz" pos="2184"/>
        <p:guide pos="2880"/>
      </p:guideLst>
    </p:cSldViewPr>
  </p:slideViewPr>
  <p:outlineViewPr>
    <p:cViewPr>
      <p:scale>
        <a:sx n="33" d="100"/>
        <a:sy n="33" d="100"/>
      </p:scale>
      <p:origin x="0" y="32136"/>
    </p:cViewPr>
  </p:outlin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8E44741-98FA-D246-81DB-5CCA3A4C76F4}" type="datetimeFigureOut">
              <a:rPr lang="en-US" smtClean="0"/>
              <a:t>1/13/26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0F88DE0-09FA-0042-BC4F-C07494E5AF68}" type="slidenum">
              <a:rPr lang="en-US" smtClean="0"/>
              <a:t>‹#›</a:t>
            </a:fld>
            <a:endParaRPr lang="en-US"/>
          </a:p>
        </p:txBody>
      </p:sp>
    </p:spTree>
    <p:extLst>
      <p:ext uri="{BB962C8B-B14F-4D97-AF65-F5344CB8AC3E}">
        <p14:creationId xmlns:p14="http://schemas.microsoft.com/office/powerpoint/2010/main" val="330024550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34205119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rgbClr val="C00000"/>
                </a:solidFill>
              </a:defRPr>
            </a:lvl1pPr>
          </a:lstStyle>
          <a:p>
            <a:r>
              <a:rPr lang="en-US"/>
              <a:t>Click to edit Master title style</a:t>
            </a:r>
            <a:endParaRPr lang="en-US" dirty="0"/>
          </a:p>
        </p:txBody>
      </p:sp>
      <p:sp>
        <p:nvSpPr>
          <p:cNvPr id="3" name="Content Placeholder 2"/>
          <p:cNvSpPr>
            <a:spLocks noGrp="1"/>
          </p:cNvSpPr>
          <p:nvPr>
            <p:ph idx="1"/>
          </p:nvPr>
        </p:nvSpPr>
        <p:spPr>
          <a:xfrm>
            <a:off x="367748" y="1745974"/>
            <a:ext cx="8229600" cy="2620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8466997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7200" y="1745974"/>
            <a:ext cx="8229600" cy="2620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a:extLst>
              <a:ext uri="{FF2B5EF4-FFF2-40B4-BE49-F238E27FC236}">
                <a16:creationId xmlns:a16="http://schemas.microsoft.com/office/drawing/2014/main" id="{0CCA415A-A4DB-F448-BF3A-3871542B09DF}"/>
              </a:ext>
            </a:extLst>
          </p:cNvPr>
          <p:cNvPicPr>
            <a:picLocks noChangeAspect="1"/>
          </p:cNvPicPr>
          <p:nvPr userDrawn="1"/>
        </p:nvPicPr>
        <p:blipFill>
          <a:blip r:embed="rId4"/>
          <a:stretch>
            <a:fillRect/>
          </a:stretch>
        </p:blipFill>
        <p:spPr>
          <a:xfrm>
            <a:off x="0" y="6286150"/>
            <a:ext cx="9144000" cy="594423"/>
          </a:xfrm>
          <a:prstGeom prst="rect">
            <a:avLst/>
          </a:prstGeom>
        </p:spPr>
      </p:pic>
    </p:spTree>
  </p:cSld>
  <p:clrMap bg1="lt1" tx1="dk1" bg2="lt2" tx2="dk2" accent1="accent1" accent2="accent2" accent3="accent3" accent4="accent4" accent5="accent5" accent6="accent6" hlink="hlink" folHlink="folHlink"/>
  <p:sldLayoutIdLst>
    <p:sldLayoutId id="2147483697" r:id="rId1"/>
    <p:sldLayoutId id="2147483698" r:id="rId2"/>
  </p:sldLayoutIdLst>
  <p:txStyles>
    <p:titleStyle>
      <a:lvl1pPr algn="l" rtl="0" eaLnBrk="1" fontAlgn="base" hangingPunct="1">
        <a:spcBef>
          <a:spcPct val="0"/>
        </a:spcBef>
        <a:spcAft>
          <a:spcPct val="0"/>
        </a:spcAft>
        <a:defRPr sz="3200" b="0" i="0">
          <a:solidFill>
            <a:srgbClr val="C00000"/>
          </a:solidFill>
          <a:latin typeface="Avenir Book" panose="02000503020000020003" pitchFamily="2" charset="0"/>
          <a:ea typeface="ＭＳ Ｐゴシック" charset="0"/>
          <a:cs typeface="ＭＳ Ｐゴシック" charset="0"/>
        </a:defRPr>
      </a:lvl1pPr>
      <a:lvl2pPr algn="ctr" rtl="0" eaLnBrk="1" fontAlgn="base" hangingPunct="1">
        <a:spcBef>
          <a:spcPct val="0"/>
        </a:spcBef>
        <a:spcAft>
          <a:spcPct val="0"/>
        </a:spcAft>
        <a:defRPr sz="3200">
          <a:solidFill>
            <a:schemeClr val="tx1"/>
          </a:solidFill>
          <a:latin typeface="Arial" charset="0"/>
          <a:ea typeface="ＭＳ Ｐゴシック" charset="0"/>
          <a:cs typeface="ＭＳ Ｐゴシック" charset="0"/>
        </a:defRPr>
      </a:lvl2pPr>
      <a:lvl3pPr algn="ctr" rtl="0" eaLnBrk="1" fontAlgn="base" hangingPunct="1">
        <a:spcBef>
          <a:spcPct val="0"/>
        </a:spcBef>
        <a:spcAft>
          <a:spcPct val="0"/>
        </a:spcAft>
        <a:defRPr sz="3200">
          <a:solidFill>
            <a:schemeClr val="tx1"/>
          </a:solidFill>
          <a:latin typeface="Arial" charset="0"/>
          <a:ea typeface="ＭＳ Ｐゴシック" charset="0"/>
          <a:cs typeface="ＭＳ Ｐゴシック" charset="0"/>
        </a:defRPr>
      </a:lvl3pPr>
      <a:lvl4pPr algn="ctr" rtl="0" eaLnBrk="1" fontAlgn="base" hangingPunct="1">
        <a:spcBef>
          <a:spcPct val="0"/>
        </a:spcBef>
        <a:spcAft>
          <a:spcPct val="0"/>
        </a:spcAft>
        <a:defRPr sz="3200">
          <a:solidFill>
            <a:schemeClr val="tx1"/>
          </a:solidFill>
          <a:latin typeface="Arial" charset="0"/>
          <a:ea typeface="ＭＳ Ｐゴシック" charset="0"/>
          <a:cs typeface="ＭＳ Ｐゴシック" charset="0"/>
        </a:defRPr>
      </a:lvl4pPr>
      <a:lvl5pPr algn="ctr" rtl="0" eaLnBrk="1" fontAlgn="base" hangingPunct="1">
        <a:spcBef>
          <a:spcPct val="0"/>
        </a:spcBef>
        <a:spcAft>
          <a:spcPct val="0"/>
        </a:spcAft>
        <a:defRPr sz="3200">
          <a:solidFill>
            <a:schemeClr val="tx1"/>
          </a:solidFill>
          <a:latin typeface="Arial" charset="0"/>
          <a:ea typeface="ＭＳ Ｐゴシック" charset="0"/>
          <a:cs typeface="ＭＳ Ｐゴシック" charset="0"/>
        </a:defRPr>
      </a:lvl5pPr>
      <a:lvl6pPr marL="457200" algn="ctr" rtl="0" eaLnBrk="1" fontAlgn="base" hangingPunct="1">
        <a:spcBef>
          <a:spcPct val="0"/>
        </a:spcBef>
        <a:spcAft>
          <a:spcPct val="0"/>
        </a:spcAft>
        <a:defRPr sz="3200">
          <a:solidFill>
            <a:srgbClr val="FFFF66"/>
          </a:solidFill>
          <a:latin typeface="Myriad Pro" pitchFamily="34" charset="0"/>
        </a:defRPr>
      </a:lvl6pPr>
      <a:lvl7pPr marL="914400" algn="ctr" rtl="0" eaLnBrk="1" fontAlgn="base" hangingPunct="1">
        <a:spcBef>
          <a:spcPct val="0"/>
        </a:spcBef>
        <a:spcAft>
          <a:spcPct val="0"/>
        </a:spcAft>
        <a:defRPr sz="3200">
          <a:solidFill>
            <a:srgbClr val="FFFF66"/>
          </a:solidFill>
          <a:latin typeface="Myriad Pro" pitchFamily="34" charset="0"/>
        </a:defRPr>
      </a:lvl7pPr>
      <a:lvl8pPr marL="1371600" algn="ctr" rtl="0" eaLnBrk="1" fontAlgn="base" hangingPunct="1">
        <a:spcBef>
          <a:spcPct val="0"/>
        </a:spcBef>
        <a:spcAft>
          <a:spcPct val="0"/>
        </a:spcAft>
        <a:defRPr sz="3200">
          <a:solidFill>
            <a:srgbClr val="FFFF66"/>
          </a:solidFill>
          <a:latin typeface="Myriad Pro" pitchFamily="34" charset="0"/>
        </a:defRPr>
      </a:lvl8pPr>
      <a:lvl9pPr marL="1828800" algn="ctr" rtl="0" eaLnBrk="1" fontAlgn="base" hangingPunct="1">
        <a:spcBef>
          <a:spcPct val="0"/>
        </a:spcBef>
        <a:spcAft>
          <a:spcPct val="0"/>
        </a:spcAft>
        <a:defRPr sz="3200">
          <a:solidFill>
            <a:srgbClr val="FFFF66"/>
          </a:solidFill>
          <a:latin typeface="Myriad Pro" pitchFamily="34" charset="0"/>
        </a:defRPr>
      </a:lvl9pPr>
    </p:titleStyle>
    <p:bodyStyle>
      <a:lvl1pPr marL="342900" indent="-342900" algn="l" rtl="0" eaLnBrk="1" fontAlgn="base" hangingPunct="1">
        <a:spcBef>
          <a:spcPct val="20000"/>
        </a:spcBef>
        <a:spcAft>
          <a:spcPct val="0"/>
        </a:spcAft>
        <a:buChar char="•"/>
        <a:defRPr sz="2400" b="0" i="0">
          <a:solidFill>
            <a:schemeClr val="bg1"/>
          </a:solidFill>
          <a:latin typeface="Avenir Book" panose="02000503020000020003" pitchFamily="2" charset="0"/>
          <a:ea typeface="ＭＳ Ｐゴシック" charset="0"/>
          <a:cs typeface="ＭＳ Ｐゴシック" charset="0"/>
        </a:defRPr>
      </a:lvl1pPr>
      <a:lvl2pPr marL="742950" indent="-285750" algn="l" rtl="0" eaLnBrk="1" fontAlgn="base" hangingPunct="1">
        <a:spcBef>
          <a:spcPct val="20000"/>
        </a:spcBef>
        <a:spcAft>
          <a:spcPct val="0"/>
        </a:spcAft>
        <a:buChar char="–"/>
        <a:defRPr sz="2400" b="0" i="0">
          <a:solidFill>
            <a:schemeClr val="bg1"/>
          </a:solidFill>
          <a:latin typeface="Avenir Book" panose="02000503020000020003" pitchFamily="2" charset="0"/>
          <a:ea typeface="ＭＳ Ｐゴシック" charset="0"/>
        </a:defRPr>
      </a:lvl2pPr>
      <a:lvl3pPr marL="1143000" indent="-228600" algn="l" rtl="0" eaLnBrk="1" fontAlgn="base" hangingPunct="1">
        <a:spcBef>
          <a:spcPct val="20000"/>
        </a:spcBef>
        <a:spcAft>
          <a:spcPct val="0"/>
        </a:spcAft>
        <a:buChar char="•"/>
        <a:defRPr sz="2400" b="0" i="0">
          <a:solidFill>
            <a:schemeClr val="bg1"/>
          </a:solidFill>
          <a:latin typeface="Avenir Book" panose="02000503020000020003" pitchFamily="2" charset="0"/>
          <a:ea typeface="ＭＳ Ｐゴシック" charset="0"/>
        </a:defRPr>
      </a:lvl3pPr>
      <a:lvl4pPr marL="1600200" indent="-228600" algn="l" rtl="0" eaLnBrk="1" fontAlgn="base" hangingPunct="1">
        <a:spcBef>
          <a:spcPct val="20000"/>
        </a:spcBef>
        <a:spcAft>
          <a:spcPct val="0"/>
        </a:spcAft>
        <a:buChar char="–"/>
        <a:defRPr sz="2400" b="0" i="0">
          <a:solidFill>
            <a:schemeClr val="bg1"/>
          </a:solidFill>
          <a:latin typeface="Avenir Book" panose="02000503020000020003" pitchFamily="2" charset="0"/>
          <a:ea typeface="ＭＳ Ｐゴシック" charset="0"/>
        </a:defRPr>
      </a:lvl4pPr>
      <a:lvl5pPr marL="2057400" indent="-228600" algn="l" rtl="0" eaLnBrk="1" fontAlgn="base" hangingPunct="1">
        <a:spcBef>
          <a:spcPct val="20000"/>
        </a:spcBef>
        <a:spcAft>
          <a:spcPct val="0"/>
        </a:spcAft>
        <a:buChar char="»"/>
        <a:defRPr sz="2400" b="0" i="0">
          <a:solidFill>
            <a:schemeClr val="bg1"/>
          </a:solidFill>
          <a:latin typeface="Avenir Book" panose="02000503020000020003" pitchFamily="2" charset="0"/>
          <a:ea typeface="ＭＳ Ｐゴシック" charset="0"/>
        </a:defRPr>
      </a:lvl5pPr>
      <a:lvl6pPr marL="2514600" indent="-228600" algn="l" rtl="0" eaLnBrk="1" fontAlgn="base" hangingPunct="1">
        <a:spcBef>
          <a:spcPct val="20000"/>
        </a:spcBef>
        <a:spcAft>
          <a:spcPct val="0"/>
        </a:spcAft>
        <a:buChar char="»"/>
        <a:defRPr sz="2400">
          <a:solidFill>
            <a:schemeClr val="bg1"/>
          </a:solidFill>
          <a:latin typeface="+mn-lt"/>
        </a:defRPr>
      </a:lvl6pPr>
      <a:lvl7pPr marL="2971800" indent="-228600" algn="l" rtl="0" eaLnBrk="1" fontAlgn="base" hangingPunct="1">
        <a:spcBef>
          <a:spcPct val="20000"/>
        </a:spcBef>
        <a:spcAft>
          <a:spcPct val="0"/>
        </a:spcAft>
        <a:buChar char="»"/>
        <a:defRPr sz="2400">
          <a:solidFill>
            <a:schemeClr val="bg1"/>
          </a:solidFill>
          <a:latin typeface="+mn-lt"/>
        </a:defRPr>
      </a:lvl7pPr>
      <a:lvl8pPr marL="3429000" indent="-228600" algn="l" rtl="0" eaLnBrk="1" fontAlgn="base" hangingPunct="1">
        <a:spcBef>
          <a:spcPct val="20000"/>
        </a:spcBef>
        <a:spcAft>
          <a:spcPct val="0"/>
        </a:spcAft>
        <a:buChar char="»"/>
        <a:defRPr sz="2400">
          <a:solidFill>
            <a:schemeClr val="bg1"/>
          </a:solidFill>
          <a:latin typeface="+mn-lt"/>
        </a:defRPr>
      </a:lvl8pPr>
      <a:lvl9pPr marL="3886200" indent="-228600" algn="l" rtl="0" eaLnBrk="1" fontAlgn="base" hangingPunct="1">
        <a:spcBef>
          <a:spcPct val="20000"/>
        </a:spcBef>
        <a:spcAft>
          <a:spcPct val="0"/>
        </a:spcAft>
        <a:buChar char="»"/>
        <a:defRPr sz="2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datamanagement.hms.harvard.edu/plan-design/file-naming-convention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rmarkdown.rstudio.com/lesson-15.HTM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4114800"/>
            <a:ext cx="8229600" cy="1295400"/>
          </a:xfrm>
        </p:spPr>
        <p:txBody>
          <a:bodyPr/>
          <a:lstStyle/>
          <a:p>
            <a:pPr marL="0" indent="0" algn="ctr">
              <a:buFontTx/>
              <a:buNone/>
              <a:defRPr/>
            </a:pPr>
            <a:r>
              <a:rPr lang="en-US" sz="2000" dirty="0"/>
              <a:t>Jamie Reilly, PhD</a:t>
            </a:r>
            <a:r>
              <a:rPr lang="en-US" sz="2000" baseline="30000" dirty="0"/>
              <a:t>1,2</a:t>
            </a:r>
            <a:endParaRPr lang="en-US" sz="2000" dirty="0"/>
          </a:p>
          <a:p>
            <a:pPr marL="0" indent="0" algn="ctr">
              <a:buFontTx/>
              <a:buNone/>
              <a:defRPr/>
            </a:pPr>
            <a:r>
              <a:rPr lang="en-US" sz="1200" baseline="30000" dirty="0">
                <a:solidFill>
                  <a:schemeClr val="tx1">
                    <a:lumMod val="65000"/>
                    <a:lumOff val="35000"/>
                  </a:schemeClr>
                </a:solidFill>
              </a:rPr>
              <a:t>1</a:t>
            </a:r>
            <a:r>
              <a:rPr lang="en-US" sz="1200" dirty="0">
                <a:solidFill>
                  <a:schemeClr val="tx1">
                    <a:lumMod val="65000"/>
                    <a:lumOff val="35000"/>
                  </a:schemeClr>
                </a:solidFill>
              </a:rPr>
              <a:t>Eleanor M. </a:t>
            </a:r>
            <a:r>
              <a:rPr lang="en-US" sz="1200" dirty="0" err="1">
                <a:solidFill>
                  <a:schemeClr val="tx1">
                    <a:lumMod val="65000"/>
                    <a:lumOff val="35000"/>
                  </a:schemeClr>
                </a:solidFill>
              </a:rPr>
              <a:t>Saffran</a:t>
            </a:r>
            <a:r>
              <a:rPr lang="en-US" sz="1200" dirty="0">
                <a:solidFill>
                  <a:schemeClr val="tx1">
                    <a:lumMod val="65000"/>
                    <a:lumOff val="35000"/>
                  </a:schemeClr>
                </a:solidFill>
              </a:rPr>
              <a:t> Center for Cognitive Neuroscience</a:t>
            </a:r>
          </a:p>
          <a:p>
            <a:pPr marL="0" indent="0" algn="ctr">
              <a:buFontTx/>
              <a:buNone/>
              <a:defRPr/>
            </a:pPr>
            <a:r>
              <a:rPr lang="en-US" sz="1200" baseline="30000" dirty="0">
                <a:solidFill>
                  <a:schemeClr val="tx1">
                    <a:lumMod val="65000"/>
                    <a:lumOff val="35000"/>
                  </a:schemeClr>
                </a:solidFill>
              </a:rPr>
              <a:t>2</a:t>
            </a:r>
            <a:r>
              <a:rPr lang="en-US" sz="1200" dirty="0">
                <a:solidFill>
                  <a:schemeClr val="tx1">
                    <a:lumMod val="65000"/>
                    <a:lumOff val="35000"/>
                  </a:schemeClr>
                </a:solidFill>
              </a:rPr>
              <a:t>Department of Communication Sciences &amp; Disorders</a:t>
            </a:r>
          </a:p>
          <a:p>
            <a:pPr marL="0" indent="0" algn="ctr">
              <a:buFontTx/>
              <a:buNone/>
              <a:defRPr/>
            </a:pPr>
            <a:r>
              <a:rPr lang="en-US" sz="1200" dirty="0">
                <a:solidFill>
                  <a:schemeClr val="tx1">
                    <a:lumMod val="65000"/>
                    <a:lumOff val="35000"/>
                  </a:schemeClr>
                </a:solidFill>
              </a:rPr>
              <a:t>Temple University, Philadelphia Pennsylvania</a:t>
            </a:r>
          </a:p>
          <a:p>
            <a:pPr marL="0" indent="0">
              <a:buFontTx/>
              <a:buNone/>
              <a:defRPr/>
            </a:pPr>
            <a:endParaRPr lang="en-US" dirty="0"/>
          </a:p>
        </p:txBody>
      </p:sp>
      <p:cxnSp>
        <p:nvCxnSpPr>
          <p:cNvPr id="4098" name="Straight Connector 4"/>
          <p:cNvCxnSpPr>
            <a:cxnSpLocks noChangeShapeType="1"/>
          </p:cNvCxnSpPr>
          <p:nvPr/>
        </p:nvCxnSpPr>
        <p:spPr bwMode="auto">
          <a:xfrm>
            <a:off x="1219200" y="3962400"/>
            <a:ext cx="6934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cxnSp>
      <p:sp useBgFill="1">
        <p:nvSpPr>
          <p:cNvPr id="6" name="Rectangle 3"/>
          <p:cNvSpPr txBox="1">
            <a:spLocks noChangeArrowheads="1"/>
          </p:cNvSpPr>
          <p:nvPr/>
        </p:nvSpPr>
        <p:spPr bwMode="auto">
          <a:xfrm>
            <a:off x="266700" y="2590801"/>
            <a:ext cx="8610600" cy="1295400"/>
          </a:xfrm>
          <a:prstGeom prst="rect">
            <a:avLst/>
          </a:prstGeom>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lvl1pPr marL="342900" indent="-342900" algn="l" rtl="0" eaLnBrk="0" fontAlgn="base" hangingPunct="0">
              <a:spcBef>
                <a:spcPct val="20000"/>
              </a:spcBef>
              <a:spcAft>
                <a:spcPct val="0"/>
              </a:spcAft>
              <a:buChar char="•"/>
              <a:defRPr sz="2400">
                <a:solidFill>
                  <a:schemeClr val="bg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har char="–"/>
              <a:defRPr sz="2400">
                <a:solidFill>
                  <a:schemeClr val="bg1"/>
                </a:solidFill>
                <a:latin typeface="+mn-lt"/>
                <a:ea typeface="ＭＳ Ｐゴシック" charset="0"/>
              </a:defRPr>
            </a:lvl2pPr>
            <a:lvl3pPr marL="1143000" indent="-228600" algn="l" rtl="0" eaLnBrk="0" fontAlgn="base" hangingPunct="0">
              <a:spcBef>
                <a:spcPct val="20000"/>
              </a:spcBef>
              <a:spcAft>
                <a:spcPct val="0"/>
              </a:spcAft>
              <a:buChar char="•"/>
              <a:defRPr sz="2400">
                <a:solidFill>
                  <a:schemeClr val="bg1"/>
                </a:solidFill>
                <a:latin typeface="+mn-lt"/>
                <a:ea typeface="ＭＳ Ｐゴシック" charset="0"/>
              </a:defRPr>
            </a:lvl3pPr>
            <a:lvl4pPr marL="1600200" indent="-228600" algn="l" rtl="0" eaLnBrk="0" fontAlgn="base" hangingPunct="0">
              <a:spcBef>
                <a:spcPct val="20000"/>
              </a:spcBef>
              <a:spcAft>
                <a:spcPct val="0"/>
              </a:spcAft>
              <a:buChar char="–"/>
              <a:defRPr sz="2400">
                <a:solidFill>
                  <a:schemeClr val="bg1"/>
                </a:solidFill>
                <a:latin typeface="+mn-lt"/>
                <a:ea typeface="ＭＳ Ｐゴシック" charset="0"/>
              </a:defRPr>
            </a:lvl4pPr>
            <a:lvl5pPr marL="2057400" indent="-228600" algn="l" rtl="0" eaLnBrk="0" fontAlgn="base" hangingPunct="0">
              <a:spcBef>
                <a:spcPct val="20000"/>
              </a:spcBef>
              <a:spcAft>
                <a:spcPct val="0"/>
              </a:spcAft>
              <a:buChar char="»"/>
              <a:defRPr sz="2400">
                <a:solidFill>
                  <a:schemeClr val="bg1"/>
                </a:solidFill>
                <a:latin typeface="+mn-lt"/>
                <a:ea typeface="ＭＳ Ｐゴシック" charset="0"/>
              </a:defRPr>
            </a:lvl5pPr>
            <a:lvl6pPr marL="2514600" indent="-228600" algn="l" rtl="0" fontAlgn="base">
              <a:spcBef>
                <a:spcPct val="20000"/>
              </a:spcBef>
              <a:spcAft>
                <a:spcPct val="0"/>
              </a:spcAft>
              <a:buChar char="»"/>
              <a:defRPr sz="2400">
                <a:solidFill>
                  <a:schemeClr val="bg1"/>
                </a:solidFill>
                <a:latin typeface="+mn-lt"/>
              </a:defRPr>
            </a:lvl6pPr>
            <a:lvl7pPr marL="2971800" indent="-228600" algn="l" rtl="0" fontAlgn="base">
              <a:spcBef>
                <a:spcPct val="20000"/>
              </a:spcBef>
              <a:spcAft>
                <a:spcPct val="0"/>
              </a:spcAft>
              <a:buChar char="»"/>
              <a:defRPr sz="2400">
                <a:solidFill>
                  <a:schemeClr val="bg1"/>
                </a:solidFill>
                <a:latin typeface="+mn-lt"/>
              </a:defRPr>
            </a:lvl7pPr>
            <a:lvl8pPr marL="3429000" indent="-228600" algn="l" rtl="0" fontAlgn="base">
              <a:spcBef>
                <a:spcPct val="20000"/>
              </a:spcBef>
              <a:spcAft>
                <a:spcPct val="0"/>
              </a:spcAft>
              <a:buChar char="»"/>
              <a:defRPr sz="2400">
                <a:solidFill>
                  <a:schemeClr val="bg1"/>
                </a:solidFill>
                <a:latin typeface="+mn-lt"/>
              </a:defRPr>
            </a:lvl8pPr>
            <a:lvl9pPr marL="3886200" indent="-228600" algn="l" rtl="0" fontAlgn="base">
              <a:spcBef>
                <a:spcPct val="20000"/>
              </a:spcBef>
              <a:spcAft>
                <a:spcPct val="0"/>
              </a:spcAft>
              <a:buChar char="»"/>
              <a:defRPr sz="2400">
                <a:solidFill>
                  <a:schemeClr val="bg1"/>
                </a:solidFill>
                <a:latin typeface="+mn-lt"/>
              </a:defRPr>
            </a:lvl9pPr>
          </a:lstStyle>
          <a:p>
            <a:pPr algn="ctr" eaLnBrk="1" fontAlgn="auto" hangingPunct="1">
              <a:spcAft>
                <a:spcPts val="0"/>
              </a:spcAft>
              <a:buNone/>
              <a:defRPr/>
            </a:pPr>
            <a:r>
              <a:rPr lang="en-US" dirty="0">
                <a:latin typeface="Avenir Book" panose="02000503020000020003" pitchFamily="2" charset="0"/>
              </a:rPr>
              <a:t>Natural Language Processing for Biobehavioral and Neuroscience Applications</a:t>
            </a:r>
          </a:p>
          <a:p>
            <a:pPr algn="ctr" eaLnBrk="1" fontAlgn="auto" hangingPunct="1">
              <a:spcAft>
                <a:spcPts val="0"/>
              </a:spcAft>
              <a:buNone/>
              <a:defRPr/>
            </a:pPr>
            <a:endParaRPr lang="en-US" dirty="0">
              <a:solidFill>
                <a:srgbClr val="C00000"/>
              </a:solidFill>
              <a:latin typeface="Avenir"/>
              <a:ea typeface="+mn-ea"/>
              <a:cs typeface="Avenir"/>
            </a:endParaRPr>
          </a:p>
        </p:txBody>
      </p:sp>
    </p:spTree>
    <p:extLst>
      <p:ext uri="{BB962C8B-B14F-4D97-AF65-F5344CB8AC3E}">
        <p14:creationId xmlns:p14="http://schemas.microsoft.com/office/powerpoint/2010/main" val="411387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134CC-E9AE-7C93-EFD8-5CD43C55A536}"/>
              </a:ext>
            </a:extLst>
          </p:cNvPr>
          <p:cNvSpPr>
            <a:spLocks noGrp="1"/>
          </p:cNvSpPr>
          <p:nvPr>
            <p:ph type="title"/>
          </p:nvPr>
        </p:nvSpPr>
        <p:spPr/>
        <p:txBody>
          <a:bodyPr/>
          <a:lstStyle/>
          <a:p>
            <a:r>
              <a:rPr lang="en-US" dirty="0"/>
              <a:t>How to learn R coding and getting help</a:t>
            </a:r>
          </a:p>
        </p:txBody>
      </p:sp>
      <p:sp>
        <p:nvSpPr>
          <p:cNvPr id="3" name="Content Placeholder 2">
            <a:extLst>
              <a:ext uri="{FF2B5EF4-FFF2-40B4-BE49-F238E27FC236}">
                <a16:creationId xmlns:a16="http://schemas.microsoft.com/office/drawing/2014/main" id="{FA0F208E-5E07-6763-050F-ABFE0731219D}"/>
              </a:ext>
            </a:extLst>
          </p:cNvPr>
          <p:cNvSpPr>
            <a:spLocks noGrp="1"/>
          </p:cNvSpPr>
          <p:nvPr>
            <p:ph idx="1"/>
          </p:nvPr>
        </p:nvSpPr>
        <p:spPr>
          <a:xfrm>
            <a:off x="367748" y="1745974"/>
            <a:ext cx="8229600" cy="3903712"/>
          </a:xfrm>
        </p:spPr>
        <p:txBody>
          <a:bodyPr/>
          <a:lstStyle/>
          <a:p>
            <a:r>
              <a:rPr lang="en-US" dirty="0"/>
              <a:t>Many free resources</a:t>
            </a:r>
          </a:p>
          <a:p>
            <a:pPr lvl="1"/>
            <a:r>
              <a:rPr lang="en-US" dirty="0" err="1"/>
              <a:t>CodeAcademy</a:t>
            </a:r>
            <a:r>
              <a:rPr lang="en-US" dirty="0"/>
              <a:t>, </a:t>
            </a:r>
            <a:r>
              <a:rPr lang="en-US" dirty="0" err="1"/>
              <a:t>DataCamp</a:t>
            </a:r>
            <a:r>
              <a:rPr lang="en-US" dirty="0"/>
              <a:t>, YouTube</a:t>
            </a:r>
          </a:p>
          <a:p>
            <a:r>
              <a:rPr lang="en-US" dirty="0"/>
              <a:t>Cannibalize code</a:t>
            </a:r>
          </a:p>
          <a:p>
            <a:r>
              <a:rPr lang="en-US" dirty="0"/>
              <a:t>Annotate code</a:t>
            </a:r>
          </a:p>
          <a:p>
            <a:r>
              <a:rPr lang="en-US" dirty="0"/>
              <a:t>Create and share tutorials</a:t>
            </a:r>
          </a:p>
          <a:p>
            <a:r>
              <a:rPr lang="en-US" dirty="0"/>
              <a:t>Ask on BlueSky or on </a:t>
            </a:r>
            <a:r>
              <a:rPr lang="en-US" dirty="0" err="1"/>
              <a:t>StackOverflow</a:t>
            </a:r>
            <a:endParaRPr lang="en-US" dirty="0"/>
          </a:p>
          <a:p>
            <a:r>
              <a:rPr lang="en-US" dirty="0"/>
              <a:t>Judicious use of LLMs</a:t>
            </a:r>
          </a:p>
        </p:txBody>
      </p:sp>
    </p:spTree>
    <p:extLst>
      <p:ext uri="{BB962C8B-B14F-4D97-AF65-F5344CB8AC3E}">
        <p14:creationId xmlns:p14="http://schemas.microsoft.com/office/powerpoint/2010/main" val="28491259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35F03-1252-AB17-8ED9-B908AE85F6B2}"/>
              </a:ext>
            </a:extLst>
          </p:cNvPr>
          <p:cNvSpPr>
            <a:spLocks noGrp="1"/>
          </p:cNvSpPr>
          <p:nvPr>
            <p:ph type="title"/>
          </p:nvPr>
        </p:nvSpPr>
        <p:spPr/>
        <p:txBody>
          <a:bodyPr/>
          <a:lstStyle/>
          <a:p>
            <a:r>
              <a:rPr lang="en-US" dirty="0"/>
              <a:t>Using LLMs for Coding</a:t>
            </a:r>
          </a:p>
        </p:txBody>
      </p:sp>
      <p:sp>
        <p:nvSpPr>
          <p:cNvPr id="3" name="Content Placeholder 2">
            <a:extLst>
              <a:ext uri="{FF2B5EF4-FFF2-40B4-BE49-F238E27FC236}">
                <a16:creationId xmlns:a16="http://schemas.microsoft.com/office/drawing/2014/main" id="{8A7DDA34-1B8F-101C-A8F0-F496F5AAB72E}"/>
              </a:ext>
            </a:extLst>
          </p:cNvPr>
          <p:cNvSpPr>
            <a:spLocks noGrp="1"/>
          </p:cNvSpPr>
          <p:nvPr>
            <p:ph idx="1"/>
          </p:nvPr>
        </p:nvSpPr>
        <p:spPr>
          <a:xfrm>
            <a:off x="367748" y="1417638"/>
            <a:ext cx="8229600" cy="4819876"/>
          </a:xfrm>
        </p:spPr>
        <p:txBody>
          <a:bodyPr/>
          <a:lstStyle/>
          <a:p>
            <a:r>
              <a:rPr lang="en-US" dirty="0"/>
              <a:t>Claude, DeepSeek, ChatGPT</a:t>
            </a:r>
          </a:p>
          <a:p>
            <a:pPr lvl="1"/>
            <a:r>
              <a:rPr lang="en-US" sz="2000" dirty="0">
                <a:solidFill>
                  <a:schemeClr val="accent3">
                    <a:lumMod val="40000"/>
                    <a:lumOff val="60000"/>
                  </a:schemeClr>
                </a:solidFill>
              </a:rPr>
              <a:t>Ok to augment your R code but consider…..</a:t>
            </a:r>
          </a:p>
          <a:p>
            <a:pPr lvl="1"/>
            <a:r>
              <a:rPr lang="en-US" sz="2000" dirty="0">
                <a:solidFill>
                  <a:schemeClr val="accent3">
                    <a:lumMod val="40000"/>
                    <a:lumOff val="60000"/>
                  </a:schemeClr>
                </a:solidFill>
              </a:rPr>
              <a:t>Tiny errors have vast effects at scale</a:t>
            </a:r>
          </a:p>
          <a:p>
            <a:pPr lvl="1"/>
            <a:r>
              <a:rPr lang="en-US" sz="2000" dirty="0">
                <a:solidFill>
                  <a:schemeClr val="accent3">
                    <a:lumMod val="40000"/>
                    <a:lumOff val="60000"/>
                  </a:schemeClr>
                </a:solidFill>
              </a:rPr>
              <a:t>Errors often difficult to detect</a:t>
            </a:r>
          </a:p>
          <a:p>
            <a:pPr lvl="1"/>
            <a:r>
              <a:rPr lang="en-US" sz="2000" dirty="0">
                <a:solidFill>
                  <a:schemeClr val="accent3">
                    <a:lumMod val="40000"/>
                    <a:lumOff val="60000"/>
                  </a:schemeClr>
                </a:solidFill>
              </a:rPr>
              <a:t>Environmental, human costs</a:t>
            </a:r>
          </a:p>
          <a:p>
            <a:pPr lvl="1"/>
            <a:endParaRPr lang="en-US" dirty="0"/>
          </a:p>
          <a:p>
            <a:r>
              <a:rPr lang="en-US" dirty="0"/>
              <a:t>If using an LLM for this class, you must:</a:t>
            </a:r>
          </a:p>
          <a:p>
            <a:pPr lvl="1"/>
            <a:r>
              <a:rPr lang="en-US" sz="2000" dirty="0">
                <a:solidFill>
                  <a:schemeClr val="accent3">
                    <a:lumMod val="40000"/>
                    <a:lumOff val="60000"/>
                  </a:schemeClr>
                </a:solidFill>
              </a:rPr>
              <a:t>Annotate code yourself</a:t>
            </a:r>
          </a:p>
          <a:p>
            <a:pPr lvl="1"/>
            <a:r>
              <a:rPr lang="en-US" sz="2000" dirty="0">
                <a:solidFill>
                  <a:schemeClr val="accent3">
                    <a:lumMod val="40000"/>
                    <a:lumOff val="60000"/>
                  </a:schemeClr>
                </a:solidFill>
              </a:rPr>
              <a:t>Understand your code (be able to explain)</a:t>
            </a:r>
          </a:p>
          <a:p>
            <a:pPr lvl="1"/>
            <a:r>
              <a:rPr lang="en-US" sz="2000" dirty="0">
                <a:solidFill>
                  <a:schemeClr val="accent3">
                    <a:lumMod val="40000"/>
                    <a:lumOff val="60000"/>
                  </a:schemeClr>
                </a:solidFill>
              </a:rPr>
              <a:t>Acknowledge that you have used an LLM</a:t>
            </a:r>
          </a:p>
          <a:p>
            <a:pPr marL="0" indent="0">
              <a:buNone/>
            </a:pPr>
            <a:endParaRPr lang="en-US" dirty="0"/>
          </a:p>
        </p:txBody>
      </p:sp>
    </p:spTree>
    <p:extLst>
      <p:ext uri="{BB962C8B-B14F-4D97-AF65-F5344CB8AC3E}">
        <p14:creationId xmlns:p14="http://schemas.microsoft.com/office/powerpoint/2010/main" val="3543272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D5D3C-8BE6-8911-AC98-2657E44CB012}"/>
              </a:ext>
            </a:extLst>
          </p:cNvPr>
          <p:cNvSpPr>
            <a:spLocks noGrp="1"/>
          </p:cNvSpPr>
          <p:nvPr>
            <p:ph type="title"/>
          </p:nvPr>
        </p:nvSpPr>
        <p:spPr/>
        <p:txBody>
          <a:bodyPr/>
          <a:lstStyle/>
          <a:p>
            <a:r>
              <a:rPr lang="en-US" dirty="0"/>
              <a:t>Setting Up for NLP </a:t>
            </a:r>
          </a:p>
        </p:txBody>
      </p:sp>
      <p:sp>
        <p:nvSpPr>
          <p:cNvPr id="3" name="Content Placeholder 2">
            <a:extLst>
              <a:ext uri="{FF2B5EF4-FFF2-40B4-BE49-F238E27FC236}">
                <a16:creationId xmlns:a16="http://schemas.microsoft.com/office/drawing/2014/main" id="{382B93E3-235B-00EA-2176-4DD95A03F8B3}"/>
              </a:ext>
            </a:extLst>
          </p:cNvPr>
          <p:cNvSpPr>
            <a:spLocks noGrp="1"/>
          </p:cNvSpPr>
          <p:nvPr>
            <p:ph idx="1"/>
          </p:nvPr>
        </p:nvSpPr>
        <p:spPr/>
        <p:txBody>
          <a:bodyPr/>
          <a:lstStyle/>
          <a:p>
            <a:r>
              <a:rPr lang="en-US" dirty="0"/>
              <a:t>NLP analyses often involve vast amounts of data</a:t>
            </a:r>
          </a:p>
          <a:p>
            <a:pPr lvl="1"/>
            <a:r>
              <a:rPr lang="en-US" dirty="0"/>
              <a:t>Processing pipelines and data proliferation</a:t>
            </a:r>
          </a:p>
          <a:p>
            <a:pPr lvl="1"/>
            <a:endParaRPr lang="en-US" dirty="0"/>
          </a:p>
          <a:p>
            <a:r>
              <a:rPr lang="en-US" dirty="0"/>
              <a:t>Sensible </a:t>
            </a:r>
            <a:r>
              <a:rPr lang="en-US" dirty="0" err="1"/>
              <a:t>filenaming</a:t>
            </a:r>
            <a:r>
              <a:rPr lang="en-US" dirty="0"/>
              <a:t> and file management conventions are essential</a:t>
            </a:r>
          </a:p>
          <a:p>
            <a:endParaRPr lang="en-US" dirty="0"/>
          </a:p>
        </p:txBody>
      </p:sp>
    </p:spTree>
    <p:extLst>
      <p:ext uri="{BB962C8B-B14F-4D97-AF65-F5344CB8AC3E}">
        <p14:creationId xmlns:p14="http://schemas.microsoft.com/office/powerpoint/2010/main" val="3110756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B6ABA-7EA3-A86C-97A4-E75D96572128}"/>
              </a:ext>
            </a:extLst>
          </p:cNvPr>
          <p:cNvSpPr>
            <a:spLocks noGrp="1"/>
          </p:cNvSpPr>
          <p:nvPr>
            <p:ph type="title"/>
          </p:nvPr>
        </p:nvSpPr>
        <p:spPr/>
        <p:txBody>
          <a:bodyPr/>
          <a:lstStyle/>
          <a:p>
            <a:r>
              <a:rPr lang="en-US" dirty="0"/>
              <a:t>File naming best practices</a:t>
            </a:r>
          </a:p>
        </p:txBody>
      </p:sp>
      <p:sp>
        <p:nvSpPr>
          <p:cNvPr id="3" name="Content Placeholder 2">
            <a:extLst>
              <a:ext uri="{FF2B5EF4-FFF2-40B4-BE49-F238E27FC236}">
                <a16:creationId xmlns:a16="http://schemas.microsoft.com/office/drawing/2014/main" id="{B3C0EF14-4C7C-6F8B-5DD3-C9B28EB128E6}"/>
              </a:ext>
            </a:extLst>
          </p:cNvPr>
          <p:cNvSpPr>
            <a:spLocks noGrp="1"/>
          </p:cNvSpPr>
          <p:nvPr>
            <p:ph idx="1"/>
          </p:nvPr>
        </p:nvSpPr>
        <p:spPr>
          <a:xfrm>
            <a:off x="378633" y="1454555"/>
            <a:ext cx="8229600" cy="4271331"/>
          </a:xfrm>
        </p:spPr>
        <p:txBody>
          <a:bodyPr/>
          <a:lstStyle/>
          <a:p>
            <a:r>
              <a:rPr lang="en-US" dirty="0"/>
              <a:t>Best practice overview &lt;</a:t>
            </a:r>
            <a:r>
              <a:rPr lang="en-US" dirty="0">
                <a:hlinkClick r:id="rId2"/>
              </a:rPr>
              <a:t>link Harvard biostats</a:t>
            </a:r>
            <a:r>
              <a:rPr lang="en-US" dirty="0"/>
              <a:t>&gt; </a:t>
            </a:r>
          </a:p>
          <a:p>
            <a:r>
              <a:rPr lang="en-US" dirty="0"/>
              <a:t>Include ‘readme’ when collaborating</a:t>
            </a:r>
          </a:p>
          <a:p>
            <a:r>
              <a:rPr lang="en-US" dirty="0"/>
              <a:t>Short, descriptive filenames</a:t>
            </a:r>
          </a:p>
          <a:p>
            <a:r>
              <a:rPr lang="en-US" dirty="0"/>
              <a:t>No spaces</a:t>
            </a:r>
          </a:p>
          <a:p>
            <a:r>
              <a:rPr lang="en-US" dirty="0"/>
              <a:t>Separate words with ‘_’, no other special characters</a:t>
            </a:r>
          </a:p>
          <a:p>
            <a:r>
              <a:rPr lang="en-US" dirty="0"/>
              <a:t>Camel case (each new word caps)</a:t>
            </a:r>
          </a:p>
          <a:p>
            <a:r>
              <a:rPr lang="en-US" dirty="0"/>
              <a:t>Use versioning</a:t>
            </a:r>
          </a:p>
        </p:txBody>
      </p:sp>
    </p:spTree>
    <p:extLst>
      <p:ext uri="{BB962C8B-B14F-4D97-AF65-F5344CB8AC3E}">
        <p14:creationId xmlns:p14="http://schemas.microsoft.com/office/powerpoint/2010/main" val="3328619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A1113-401A-FE56-9C7F-6C57BD751B4C}"/>
              </a:ext>
            </a:extLst>
          </p:cNvPr>
          <p:cNvSpPr>
            <a:spLocks noGrp="1"/>
          </p:cNvSpPr>
          <p:nvPr>
            <p:ph type="title"/>
          </p:nvPr>
        </p:nvSpPr>
        <p:spPr/>
        <p:txBody>
          <a:bodyPr/>
          <a:lstStyle/>
          <a:p>
            <a:r>
              <a:rPr lang="en-US" dirty="0"/>
              <a:t>Paths and directories</a:t>
            </a:r>
          </a:p>
        </p:txBody>
      </p:sp>
      <p:sp>
        <p:nvSpPr>
          <p:cNvPr id="3" name="Content Placeholder 2">
            <a:extLst>
              <a:ext uri="{FF2B5EF4-FFF2-40B4-BE49-F238E27FC236}">
                <a16:creationId xmlns:a16="http://schemas.microsoft.com/office/drawing/2014/main" id="{97AE4E32-B490-A336-5D2F-509A3966B70D}"/>
              </a:ext>
            </a:extLst>
          </p:cNvPr>
          <p:cNvSpPr>
            <a:spLocks noGrp="1"/>
          </p:cNvSpPr>
          <p:nvPr>
            <p:ph idx="1"/>
          </p:nvPr>
        </p:nvSpPr>
        <p:spPr/>
        <p:txBody>
          <a:bodyPr/>
          <a:lstStyle/>
          <a:p>
            <a:r>
              <a:rPr lang="en-US" dirty="0"/>
              <a:t>Store files on a cloud drive (</a:t>
            </a:r>
            <a:r>
              <a:rPr lang="en-US" dirty="0" err="1"/>
              <a:t>onedrive</a:t>
            </a:r>
            <a:r>
              <a:rPr lang="en-US" dirty="0"/>
              <a:t>, google)</a:t>
            </a:r>
          </a:p>
          <a:p>
            <a:r>
              <a:rPr lang="en-US" dirty="0"/>
              <a:t>Organize folders hierarchically</a:t>
            </a:r>
          </a:p>
          <a:p>
            <a:r>
              <a:rPr lang="en-US" dirty="0"/>
              <a:t>Set this up now….</a:t>
            </a:r>
          </a:p>
          <a:p>
            <a:endParaRPr lang="en-US" dirty="0"/>
          </a:p>
          <a:p>
            <a:r>
              <a:rPr lang="en-US" dirty="0" err="1"/>
              <a:t>Reilly_RData</a:t>
            </a:r>
            <a:endParaRPr lang="en-US" dirty="0"/>
          </a:p>
          <a:p>
            <a:pPr lvl="1"/>
            <a:r>
              <a:rPr lang="en-US" dirty="0" err="1"/>
              <a:t>My_NewTextMiningProject</a:t>
            </a:r>
            <a:endParaRPr lang="en-US" dirty="0"/>
          </a:p>
          <a:p>
            <a:pPr lvl="2"/>
            <a:r>
              <a:rPr lang="en-US" dirty="0"/>
              <a:t>Data</a:t>
            </a:r>
          </a:p>
          <a:p>
            <a:pPr lvl="2"/>
            <a:r>
              <a:rPr lang="en-US" dirty="0"/>
              <a:t>Plots</a:t>
            </a:r>
          </a:p>
          <a:p>
            <a:pPr lvl="2"/>
            <a:r>
              <a:rPr lang="en-US" dirty="0"/>
              <a:t>Archive</a:t>
            </a:r>
          </a:p>
        </p:txBody>
      </p:sp>
    </p:spTree>
    <p:extLst>
      <p:ext uri="{BB962C8B-B14F-4D97-AF65-F5344CB8AC3E}">
        <p14:creationId xmlns:p14="http://schemas.microsoft.com/office/powerpoint/2010/main" val="4254179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6C8A1-669C-0220-682B-F364727EDD3B}"/>
              </a:ext>
            </a:extLst>
          </p:cNvPr>
          <p:cNvSpPr>
            <a:spLocks noGrp="1"/>
          </p:cNvSpPr>
          <p:nvPr>
            <p:ph type="title"/>
          </p:nvPr>
        </p:nvSpPr>
        <p:spPr/>
        <p:txBody>
          <a:bodyPr/>
          <a:lstStyle/>
          <a:p>
            <a:r>
              <a:rPr lang="en-US" dirty="0"/>
              <a:t>Annotation</a:t>
            </a:r>
          </a:p>
        </p:txBody>
      </p:sp>
      <p:sp>
        <p:nvSpPr>
          <p:cNvPr id="3" name="Content Placeholder 2">
            <a:extLst>
              <a:ext uri="{FF2B5EF4-FFF2-40B4-BE49-F238E27FC236}">
                <a16:creationId xmlns:a16="http://schemas.microsoft.com/office/drawing/2014/main" id="{3E0B6935-F138-A375-0439-3AF3A982E917}"/>
              </a:ext>
            </a:extLst>
          </p:cNvPr>
          <p:cNvSpPr>
            <a:spLocks noGrp="1"/>
          </p:cNvSpPr>
          <p:nvPr>
            <p:ph idx="1"/>
          </p:nvPr>
        </p:nvSpPr>
        <p:spPr>
          <a:xfrm>
            <a:off x="269776" y="1417638"/>
            <a:ext cx="8229600" cy="2620963"/>
          </a:xfrm>
        </p:spPr>
        <p:txBody>
          <a:bodyPr/>
          <a:lstStyle/>
          <a:p>
            <a:r>
              <a:rPr lang="en-US" dirty="0"/>
              <a:t>In an </a:t>
            </a:r>
            <a:r>
              <a:rPr lang="en-US" dirty="0" err="1"/>
              <a:t>Rmarkdown</a:t>
            </a:r>
            <a:r>
              <a:rPr lang="en-US" dirty="0"/>
              <a:t> code block, anything following # is not executed and represents annotation</a:t>
            </a:r>
          </a:p>
          <a:p>
            <a:r>
              <a:rPr lang="en-US" dirty="0"/>
              <a:t>Explains what the code does</a:t>
            </a:r>
          </a:p>
          <a:p>
            <a:r>
              <a:rPr lang="en-US" dirty="0"/>
              <a:t>You cannot err on the side of annotating too much</a:t>
            </a:r>
          </a:p>
          <a:p>
            <a:r>
              <a:rPr lang="en-US" dirty="0"/>
              <a:t>I want you to annotate almost everything</a:t>
            </a:r>
          </a:p>
          <a:p>
            <a:endParaRPr lang="en-US" dirty="0"/>
          </a:p>
          <a:p>
            <a:endParaRPr lang="en-US" dirty="0"/>
          </a:p>
        </p:txBody>
      </p:sp>
      <p:pic>
        <p:nvPicPr>
          <p:cNvPr id="5" name="Picture 4" descr="A screen shot of a computer code&#10;&#10;AI-generated content may be incorrect.">
            <a:extLst>
              <a:ext uri="{FF2B5EF4-FFF2-40B4-BE49-F238E27FC236}">
                <a16:creationId xmlns:a16="http://schemas.microsoft.com/office/drawing/2014/main" id="{8C9202B6-630A-DB78-CC78-265B7D88C67E}"/>
              </a:ext>
            </a:extLst>
          </p:cNvPr>
          <p:cNvPicPr>
            <a:picLocks noChangeAspect="1"/>
          </p:cNvPicPr>
          <p:nvPr/>
        </p:nvPicPr>
        <p:blipFill>
          <a:blip r:embed="rId2"/>
          <a:stretch>
            <a:fillRect/>
          </a:stretch>
        </p:blipFill>
        <p:spPr>
          <a:xfrm>
            <a:off x="407720" y="4212772"/>
            <a:ext cx="8279080" cy="1937657"/>
          </a:xfrm>
          <a:prstGeom prst="rect">
            <a:avLst/>
          </a:prstGeom>
        </p:spPr>
      </p:pic>
    </p:spTree>
    <p:extLst>
      <p:ext uri="{BB962C8B-B14F-4D97-AF65-F5344CB8AC3E}">
        <p14:creationId xmlns:p14="http://schemas.microsoft.com/office/powerpoint/2010/main" val="1312065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90F1D-947A-35D3-48F2-646A7AEA6A1D}"/>
              </a:ext>
            </a:extLst>
          </p:cNvPr>
          <p:cNvSpPr>
            <a:spLocks noGrp="1"/>
          </p:cNvSpPr>
          <p:nvPr>
            <p:ph type="title"/>
          </p:nvPr>
        </p:nvSpPr>
        <p:spPr/>
        <p:txBody>
          <a:bodyPr/>
          <a:lstStyle/>
          <a:p>
            <a:r>
              <a:rPr lang="en-US" dirty="0" err="1"/>
              <a:t>RMarkdown</a:t>
            </a:r>
            <a:endParaRPr lang="en-US" dirty="0"/>
          </a:p>
        </p:txBody>
      </p:sp>
      <p:sp>
        <p:nvSpPr>
          <p:cNvPr id="3" name="Content Placeholder 2">
            <a:extLst>
              <a:ext uri="{FF2B5EF4-FFF2-40B4-BE49-F238E27FC236}">
                <a16:creationId xmlns:a16="http://schemas.microsoft.com/office/drawing/2014/main" id="{24D24F94-6EC0-FEC8-5C7F-DD1399130259}"/>
              </a:ext>
            </a:extLst>
          </p:cNvPr>
          <p:cNvSpPr>
            <a:spLocks noGrp="1"/>
          </p:cNvSpPr>
          <p:nvPr>
            <p:ph idx="1"/>
          </p:nvPr>
        </p:nvSpPr>
        <p:spPr/>
        <p:txBody>
          <a:bodyPr/>
          <a:lstStyle/>
          <a:p>
            <a:r>
              <a:rPr lang="en-US" dirty="0"/>
              <a:t>We will be using </a:t>
            </a:r>
            <a:r>
              <a:rPr lang="en-US" dirty="0" err="1"/>
              <a:t>Rmarkdown</a:t>
            </a:r>
            <a:endParaRPr lang="en-US" dirty="0"/>
          </a:p>
          <a:p>
            <a:pPr lvl="1"/>
            <a:r>
              <a:rPr lang="en-US" dirty="0">
                <a:hlinkClick r:id="rId2"/>
              </a:rPr>
              <a:t>&lt; link to Markdown </a:t>
            </a:r>
            <a:r>
              <a:rPr lang="en-US" dirty="0" err="1">
                <a:hlinkClick r:id="rId2"/>
              </a:rPr>
              <a:t>cheatsheet</a:t>
            </a:r>
            <a:r>
              <a:rPr lang="en-US" dirty="0">
                <a:hlinkClick r:id="rId2"/>
              </a:rPr>
              <a:t> &gt;</a:t>
            </a:r>
            <a:endParaRPr lang="en-US" dirty="0"/>
          </a:p>
          <a:p>
            <a:pPr lvl="1"/>
            <a:r>
              <a:rPr lang="en-US" dirty="0"/>
              <a:t>&lt; link to Markdown tutorial &gt;</a:t>
            </a:r>
          </a:p>
        </p:txBody>
      </p:sp>
    </p:spTree>
    <p:extLst>
      <p:ext uri="{BB962C8B-B14F-4D97-AF65-F5344CB8AC3E}">
        <p14:creationId xmlns:p14="http://schemas.microsoft.com/office/powerpoint/2010/main" val="3812767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E81CC-82D2-AC4D-AFC8-278CF8A3B806}"/>
              </a:ext>
            </a:extLst>
          </p:cNvPr>
          <p:cNvSpPr>
            <a:spLocks noGrp="1"/>
          </p:cNvSpPr>
          <p:nvPr>
            <p:ph type="title"/>
          </p:nvPr>
        </p:nvSpPr>
        <p:spPr/>
        <p:txBody>
          <a:bodyPr/>
          <a:lstStyle/>
          <a:p>
            <a:r>
              <a:rPr lang="en-US" dirty="0"/>
              <a:t>What is text mining?</a:t>
            </a:r>
          </a:p>
        </p:txBody>
      </p:sp>
      <p:sp>
        <p:nvSpPr>
          <p:cNvPr id="3" name="Content Placeholder 2">
            <a:extLst>
              <a:ext uri="{FF2B5EF4-FFF2-40B4-BE49-F238E27FC236}">
                <a16:creationId xmlns:a16="http://schemas.microsoft.com/office/drawing/2014/main" id="{2E8475F8-6901-A34B-B617-CC242A6681B3}"/>
              </a:ext>
            </a:extLst>
          </p:cNvPr>
          <p:cNvSpPr>
            <a:spLocks noGrp="1"/>
          </p:cNvSpPr>
          <p:nvPr>
            <p:ph idx="1"/>
          </p:nvPr>
        </p:nvSpPr>
        <p:spPr/>
        <p:txBody>
          <a:bodyPr/>
          <a:lstStyle/>
          <a:p>
            <a:r>
              <a:rPr lang="en-US" dirty="0"/>
              <a:t>Text mining: takes large amount of unstructured language, extracts novel insights</a:t>
            </a:r>
          </a:p>
          <a:p>
            <a:pPr lvl="1"/>
            <a:r>
              <a:rPr lang="en-US" sz="2000" dirty="0">
                <a:solidFill>
                  <a:schemeClr val="accent3">
                    <a:lumMod val="60000"/>
                    <a:lumOff val="40000"/>
                  </a:schemeClr>
                </a:solidFill>
              </a:rPr>
              <a:t>No requirement to read and/or manually tag the text you are analyzing</a:t>
            </a:r>
          </a:p>
          <a:p>
            <a:pPr lvl="1"/>
            <a:endParaRPr lang="en-US" sz="2000" dirty="0">
              <a:solidFill>
                <a:schemeClr val="accent3">
                  <a:lumMod val="60000"/>
                  <a:lumOff val="40000"/>
                </a:schemeClr>
              </a:solidFill>
            </a:endParaRPr>
          </a:p>
          <a:p>
            <a:r>
              <a:rPr lang="en-US" dirty="0"/>
              <a:t>Typical steps in machine learning (text)</a:t>
            </a:r>
          </a:p>
          <a:p>
            <a:pPr lvl="1"/>
            <a:r>
              <a:rPr lang="en-US" sz="1800" dirty="0">
                <a:solidFill>
                  <a:schemeClr val="accent3">
                    <a:lumMod val="60000"/>
                    <a:lumOff val="40000"/>
                  </a:schemeClr>
                </a:solidFill>
              </a:rPr>
              <a:t>Gather historical data (corpus, pl. corpora)</a:t>
            </a:r>
          </a:p>
          <a:p>
            <a:pPr lvl="1"/>
            <a:r>
              <a:rPr lang="en-US" sz="1800" dirty="0">
                <a:solidFill>
                  <a:schemeClr val="accent3">
                    <a:lumMod val="60000"/>
                    <a:lumOff val="40000"/>
                  </a:schemeClr>
                </a:solidFill>
              </a:rPr>
              <a:t>Develop a predictive model (prediction)</a:t>
            </a:r>
          </a:p>
          <a:p>
            <a:pPr lvl="1"/>
            <a:r>
              <a:rPr lang="en-US" sz="1800" dirty="0">
                <a:solidFill>
                  <a:schemeClr val="accent3">
                    <a:lumMod val="60000"/>
                    <a:lumOff val="40000"/>
                  </a:schemeClr>
                </a:solidFill>
              </a:rPr>
              <a:t>Test the model on new data</a:t>
            </a:r>
          </a:p>
          <a:p>
            <a:pPr lvl="1"/>
            <a:endParaRPr lang="en-US" sz="2000" dirty="0">
              <a:solidFill>
                <a:schemeClr val="accent3">
                  <a:lumMod val="60000"/>
                  <a:lumOff val="40000"/>
                </a:schemeClr>
              </a:solidFill>
            </a:endParaRPr>
          </a:p>
        </p:txBody>
      </p:sp>
    </p:spTree>
    <p:extLst>
      <p:ext uri="{BB962C8B-B14F-4D97-AF65-F5344CB8AC3E}">
        <p14:creationId xmlns:p14="http://schemas.microsoft.com/office/powerpoint/2010/main" val="212440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149B2-1108-C04B-B3C7-D97CE95BDA46}"/>
              </a:ext>
            </a:extLst>
          </p:cNvPr>
          <p:cNvSpPr>
            <a:spLocks noGrp="1"/>
          </p:cNvSpPr>
          <p:nvPr>
            <p:ph type="title"/>
          </p:nvPr>
        </p:nvSpPr>
        <p:spPr>
          <a:xfrm>
            <a:off x="394855" y="135383"/>
            <a:ext cx="8229600" cy="1143000"/>
          </a:xfrm>
        </p:spPr>
        <p:txBody>
          <a:bodyPr/>
          <a:lstStyle/>
          <a:p>
            <a:r>
              <a:rPr lang="en-US" dirty="0"/>
              <a:t>Types of Text Mining: Bag of Words</a:t>
            </a:r>
          </a:p>
        </p:txBody>
      </p:sp>
      <p:sp>
        <p:nvSpPr>
          <p:cNvPr id="3" name="Content Placeholder 2">
            <a:extLst>
              <a:ext uri="{FF2B5EF4-FFF2-40B4-BE49-F238E27FC236}">
                <a16:creationId xmlns:a16="http://schemas.microsoft.com/office/drawing/2014/main" id="{276C5DC8-63B7-034A-B3CE-753B63B5B5FE}"/>
              </a:ext>
            </a:extLst>
          </p:cNvPr>
          <p:cNvSpPr>
            <a:spLocks noGrp="1"/>
          </p:cNvSpPr>
          <p:nvPr>
            <p:ph idx="1"/>
          </p:nvPr>
        </p:nvSpPr>
        <p:spPr>
          <a:xfrm>
            <a:off x="457200" y="1278383"/>
            <a:ext cx="8229600" cy="2620963"/>
          </a:xfrm>
        </p:spPr>
        <p:txBody>
          <a:bodyPr/>
          <a:lstStyle/>
          <a:p>
            <a:r>
              <a:rPr lang="en-US" sz="2000" dirty="0"/>
              <a:t>Having had some time at my disposal when in London, I had visited the British Museum and made search among the books and maps in the library regarding Transylvania. It had struck me that some foreknowledge of the country could hardly fail to have some importance in dealing with a nobleman of that country</a:t>
            </a:r>
          </a:p>
          <a:p>
            <a:endParaRPr lang="en-US" sz="2000" dirty="0"/>
          </a:p>
          <a:p>
            <a:endParaRPr lang="en-US" sz="2000" dirty="0"/>
          </a:p>
          <a:p>
            <a:endParaRPr lang="en-US" sz="2000" dirty="0"/>
          </a:p>
          <a:p>
            <a:endParaRPr lang="en-US" sz="2000" dirty="0"/>
          </a:p>
          <a:p>
            <a:endParaRPr lang="en-US" sz="2000" dirty="0"/>
          </a:p>
          <a:p>
            <a:endParaRPr lang="en-US" sz="2000" dirty="0"/>
          </a:p>
          <a:p>
            <a:r>
              <a:rPr lang="en-US" sz="2000" dirty="0"/>
              <a:t>Each word treated as an n-gram</a:t>
            </a:r>
          </a:p>
          <a:p>
            <a:pPr lvl="1"/>
            <a:r>
              <a:rPr lang="en-US" sz="2000" dirty="0"/>
              <a:t>Agnostic to word order or syntactic complexity</a:t>
            </a:r>
          </a:p>
          <a:p>
            <a:pPr marL="0" indent="0">
              <a:buNone/>
            </a:pPr>
            <a:endParaRPr lang="en-US" dirty="0"/>
          </a:p>
        </p:txBody>
      </p:sp>
      <p:pic>
        <p:nvPicPr>
          <p:cNvPr id="5" name="Picture 4">
            <a:extLst>
              <a:ext uri="{FF2B5EF4-FFF2-40B4-BE49-F238E27FC236}">
                <a16:creationId xmlns:a16="http://schemas.microsoft.com/office/drawing/2014/main" id="{F4810D8F-22F5-E847-9A42-76B19A942441}"/>
              </a:ext>
            </a:extLst>
          </p:cNvPr>
          <p:cNvPicPr>
            <a:picLocks noChangeAspect="1"/>
          </p:cNvPicPr>
          <p:nvPr/>
        </p:nvPicPr>
        <p:blipFill>
          <a:blip r:embed="rId2"/>
          <a:stretch>
            <a:fillRect/>
          </a:stretch>
        </p:blipFill>
        <p:spPr>
          <a:xfrm>
            <a:off x="1463760" y="3094674"/>
            <a:ext cx="7223040" cy="1609344"/>
          </a:xfrm>
          <a:prstGeom prst="rect">
            <a:avLst/>
          </a:prstGeom>
        </p:spPr>
      </p:pic>
    </p:spTree>
    <p:extLst>
      <p:ext uri="{BB962C8B-B14F-4D97-AF65-F5344CB8AC3E}">
        <p14:creationId xmlns:p14="http://schemas.microsoft.com/office/powerpoint/2010/main" val="9737102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149B2-1108-C04B-B3C7-D97CE95BDA46}"/>
              </a:ext>
            </a:extLst>
          </p:cNvPr>
          <p:cNvSpPr>
            <a:spLocks noGrp="1"/>
          </p:cNvSpPr>
          <p:nvPr>
            <p:ph type="title"/>
          </p:nvPr>
        </p:nvSpPr>
        <p:spPr/>
        <p:txBody>
          <a:bodyPr/>
          <a:lstStyle/>
          <a:p>
            <a:r>
              <a:rPr lang="en-US" dirty="0"/>
              <a:t>Bag of Words: Document Term Matrix</a:t>
            </a:r>
          </a:p>
        </p:txBody>
      </p:sp>
      <p:sp>
        <p:nvSpPr>
          <p:cNvPr id="3" name="Content Placeholder 2">
            <a:extLst>
              <a:ext uri="{FF2B5EF4-FFF2-40B4-BE49-F238E27FC236}">
                <a16:creationId xmlns:a16="http://schemas.microsoft.com/office/drawing/2014/main" id="{276C5DC8-63B7-034A-B3CE-753B63B5B5FE}"/>
              </a:ext>
            </a:extLst>
          </p:cNvPr>
          <p:cNvSpPr>
            <a:spLocks noGrp="1"/>
          </p:cNvSpPr>
          <p:nvPr>
            <p:ph idx="1"/>
          </p:nvPr>
        </p:nvSpPr>
        <p:spPr>
          <a:xfrm>
            <a:off x="457200" y="1278383"/>
            <a:ext cx="8229600" cy="2620963"/>
          </a:xfrm>
        </p:spPr>
        <p:txBody>
          <a:bodyPr/>
          <a:lstStyle/>
          <a:p>
            <a:r>
              <a:rPr lang="en-US" sz="2000" dirty="0"/>
              <a:t>Not super complex or computationally </a:t>
            </a:r>
            <a:r>
              <a:rPr lang="en-US" sz="2000" dirty="0" err="1"/>
              <a:t>intensiv</a:t>
            </a:r>
            <a:endParaRPr lang="en-US" sz="2000" dirty="0"/>
          </a:p>
          <a:p>
            <a:r>
              <a:rPr lang="en-US" sz="2000" dirty="0"/>
              <a:t>Document Term Matrix (DTM)</a:t>
            </a:r>
          </a:p>
          <a:p>
            <a:pPr lvl="1"/>
            <a:r>
              <a:rPr lang="en-US" sz="2000" dirty="0"/>
              <a:t>In DTM, rows are corpora and columns are words</a:t>
            </a:r>
          </a:p>
          <a:p>
            <a:pPr lvl="1"/>
            <a:endParaRPr lang="en-US" sz="2000" dirty="0"/>
          </a:p>
          <a:p>
            <a:pPr lvl="1"/>
            <a:endParaRPr lang="en-US" sz="2000" dirty="0"/>
          </a:p>
          <a:p>
            <a:pPr lvl="1"/>
            <a:endParaRPr lang="en-US" sz="2000" dirty="0"/>
          </a:p>
          <a:p>
            <a:pPr lvl="1"/>
            <a:endParaRPr lang="en-US" sz="2000" dirty="0"/>
          </a:p>
          <a:p>
            <a:r>
              <a:rPr lang="en-US" sz="2000" dirty="0"/>
              <a:t>Term Document Matrix (TDM)</a:t>
            </a:r>
          </a:p>
          <a:p>
            <a:pPr lvl="1"/>
            <a:endParaRPr lang="en-US" sz="2000" dirty="0"/>
          </a:p>
          <a:p>
            <a:pPr lvl="1"/>
            <a:endParaRPr lang="en-US" sz="2000" dirty="0"/>
          </a:p>
          <a:p>
            <a:pPr lvl="1"/>
            <a:endParaRPr lang="en-US" sz="2000" dirty="0"/>
          </a:p>
          <a:p>
            <a:pPr lvl="1"/>
            <a:endParaRPr lang="en-US" sz="2000" dirty="0"/>
          </a:p>
          <a:p>
            <a:pPr lvl="1"/>
            <a:endParaRPr lang="en-US" sz="2000" dirty="0"/>
          </a:p>
          <a:p>
            <a:endParaRPr lang="en-US" sz="2000" dirty="0"/>
          </a:p>
          <a:p>
            <a:pPr marL="0" indent="0">
              <a:buNone/>
            </a:pPr>
            <a:endParaRPr lang="en-US" dirty="0"/>
          </a:p>
        </p:txBody>
      </p:sp>
      <p:graphicFrame>
        <p:nvGraphicFramePr>
          <p:cNvPr id="4" name="Table 5">
            <a:extLst>
              <a:ext uri="{FF2B5EF4-FFF2-40B4-BE49-F238E27FC236}">
                <a16:creationId xmlns:a16="http://schemas.microsoft.com/office/drawing/2014/main" id="{20CAFB99-3821-E340-8FF2-70741E13E13D}"/>
              </a:ext>
            </a:extLst>
          </p:cNvPr>
          <p:cNvGraphicFramePr>
            <a:graphicFrameLocks noGrp="1"/>
          </p:cNvGraphicFramePr>
          <p:nvPr>
            <p:extLst>
              <p:ext uri="{D42A27DB-BD31-4B8C-83A1-F6EECF244321}">
                <p14:modId xmlns:p14="http://schemas.microsoft.com/office/powerpoint/2010/main" val="1250908695"/>
              </p:ext>
            </p:extLst>
          </p:nvPr>
        </p:nvGraphicFramePr>
        <p:xfrm>
          <a:off x="1122218" y="2588864"/>
          <a:ext cx="7834748" cy="1112520"/>
        </p:xfrm>
        <a:graphic>
          <a:graphicData uri="http://schemas.openxmlformats.org/drawingml/2006/table">
            <a:tbl>
              <a:tblPr firstRow="1" bandRow="1">
                <a:tableStyleId>{F5AB1C69-6EDB-4FF4-983F-18BD219EF322}</a:tableStyleId>
              </a:tblPr>
              <a:tblGrid>
                <a:gridCol w="1968681">
                  <a:extLst>
                    <a:ext uri="{9D8B030D-6E8A-4147-A177-3AD203B41FA5}">
                      <a16:colId xmlns:a16="http://schemas.microsoft.com/office/drawing/2014/main" val="716969266"/>
                    </a:ext>
                  </a:extLst>
                </a:gridCol>
                <a:gridCol w="1399061">
                  <a:extLst>
                    <a:ext uri="{9D8B030D-6E8A-4147-A177-3AD203B41FA5}">
                      <a16:colId xmlns:a16="http://schemas.microsoft.com/office/drawing/2014/main" val="442966135"/>
                    </a:ext>
                  </a:extLst>
                </a:gridCol>
                <a:gridCol w="1189202">
                  <a:extLst>
                    <a:ext uri="{9D8B030D-6E8A-4147-A177-3AD203B41FA5}">
                      <a16:colId xmlns:a16="http://schemas.microsoft.com/office/drawing/2014/main" val="1546974180"/>
                    </a:ext>
                  </a:extLst>
                </a:gridCol>
                <a:gridCol w="1349096">
                  <a:extLst>
                    <a:ext uri="{9D8B030D-6E8A-4147-A177-3AD203B41FA5}">
                      <a16:colId xmlns:a16="http://schemas.microsoft.com/office/drawing/2014/main" val="3413433127"/>
                    </a:ext>
                  </a:extLst>
                </a:gridCol>
                <a:gridCol w="1928708">
                  <a:extLst>
                    <a:ext uri="{9D8B030D-6E8A-4147-A177-3AD203B41FA5}">
                      <a16:colId xmlns:a16="http://schemas.microsoft.com/office/drawing/2014/main" val="1613495528"/>
                    </a:ext>
                  </a:extLst>
                </a:gridCol>
              </a:tblGrid>
              <a:tr h="370840">
                <a:tc>
                  <a:txBody>
                    <a:bodyPr/>
                    <a:lstStyle/>
                    <a:p>
                      <a:endParaRPr lang="en-US" dirty="0"/>
                    </a:p>
                  </a:txBody>
                  <a:tcPr/>
                </a:tc>
                <a:tc>
                  <a:txBody>
                    <a:bodyPr/>
                    <a:lstStyle/>
                    <a:p>
                      <a:r>
                        <a:rPr lang="en-US" dirty="0"/>
                        <a:t>Having </a:t>
                      </a:r>
                    </a:p>
                  </a:txBody>
                  <a:tcPr/>
                </a:tc>
                <a:tc>
                  <a:txBody>
                    <a:bodyPr/>
                    <a:lstStyle/>
                    <a:p>
                      <a:r>
                        <a:rPr lang="en-US" dirty="0"/>
                        <a:t>had</a:t>
                      </a:r>
                    </a:p>
                  </a:txBody>
                  <a:tcPr/>
                </a:tc>
                <a:tc>
                  <a:txBody>
                    <a:bodyPr/>
                    <a:lstStyle/>
                    <a:p>
                      <a:r>
                        <a:rPr lang="en-US" dirty="0"/>
                        <a:t>some </a:t>
                      </a:r>
                    </a:p>
                  </a:txBody>
                  <a:tcPr/>
                </a:tc>
                <a:tc>
                  <a:txBody>
                    <a:bodyPr/>
                    <a:lstStyle/>
                    <a:p>
                      <a:r>
                        <a:rPr lang="en-US" dirty="0"/>
                        <a:t>time</a:t>
                      </a:r>
                    </a:p>
                  </a:txBody>
                  <a:tcPr/>
                </a:tc>
                <a:extLst>
                  <a:ext uri="{0D108BD9-81ED-4DB2-BD59-A6C34878D82A}">
                    <a16:rowId xmlns:a16="http://schemas.microsoft.com/office/drawing/2014/main" val="4159172531"/>
                  </a:ext>
                </a:extLst>
              </a:tr>
              <a:tr h="370840">
                <a:tc>
                  <a:txBody>
                    <a:bodyPr/>
                    <a:lstStyle/>
                    <a:p>
                      <a:r>
                        <a:rPr lang="en-US" dirty="0"/>
                        <a:t>Dracula</a:t>
                      </a:r>
                    </a:p>
                  </a:txBody>
                  <a:tcPr/>
                </a:tc>
                <a:tc>
                  <a:txBody>
                    <a:bodyPr/>
                    <a:lstStyle/>
                    <a:p>
                      <a:r>
                        <a:rPr lang="en-US" dirty="0"/>
                        <a:t>37</a:t>
                      </a:r>
                    </a:p>
                  </a:txBody>
                  <a:tcPr/>
                </a:tc>
                <a:tc>
                  <a:txBody>
                    <a:bodyPr/>
                    <a:lstStyle/>
                    <a:p>
                      <a:r>
                        <a:rPr lang="en-US" dirty="0"/>
                        <a:t>280</a:t>
                      </a:r>
                    </a:p>
                  </a:txBody>
                  <a:tcPr/>
                </a:tc>
                <a:tc>
                  <a:txBody>
                    <a:bodyPr/>
                    <a:lstStyle/>
                    <a:p>
                      <a:r>
                        <a:rPr lang="en-US" dirty="0"/>
                        <a:t>17</a:t>
                      </a:r>
                    </a:p>
                  </a:txBody>
                  <a:tcPr/>
                </a:tc>
                <a:tc>
                  <a:txBody>
                    <a:bodyPr/>
                    <a:lstStyle/>
                    <a:p>
                      <a:r>
                        <a:rPr lang="en-US" dirty="0"/>
                        <a:t>6</a:t>
                      </a:r>
                    </a:p>
                  </a:txBody>
                  <a:tcPr/>
                </a:tc>
                <a:extLst>
                  <a:ext uri="{0D108BD9-81ED-4DB2-BD59-A6C34878D82A}">
                    <a16:rowId xmlns:a16="http://schemas.microsoft.com/office/drawing/2014/main" val="2640752435"/>
                  </a:ext>
                </a:extLst>
              </a:tr>
              <a:tr h="370840">
                <a:tc>
                  <a:txBody>
                    <a:bodyPr/>
                    <a:lstStyle/>
                    <a:p>
                      <a:r>
                        <a:rPr lang="en-US" dirty="0"/>
                        <a:t>Pride &amp; Prejudice</a:t>
                      </a:r>
                    </a:p>
                  </a:txBody>
                  <a:tcPr/>
                </a:tc>
                <a:tc>
                  <a:txBody>
                    <a:bodyPr/>
                    <a:lstStyle/>
                    <a:p>
                      <a:r>
                        <a:rPr lang="en-US" dirty="0"/>
                        <a:t>6</a:t>
                      </a:r>
                    </a:p>
                  </a:txBody>
                  <a:tcPr/>
                </a:tc>
                <a:tc>
                  <a:txBody>
                    <a:bodyPr/>
                    <a:lstStyle/>
                    <a:p>
                      <a:r>
                        <a:rPr lang="en-US" dirty="0"/>
                        <a:t>521</a:t>
                      </a:r>
                    </a:p>
                  </a:txBody>
                  <a:tcPr/>
                </a:tc>
                <a:tc>
                  <a:txBody>
                    <a:bodyPr/>
                    <a:lstStyle/>
                    <a:p>
                      <a:r>
                        <a:rPr lang="en-US" dirty="0"/>
                        <a:t>230</a:t>
                      </a:r>
                    </a:p>
                  </a:txBody>
                  <a:tcPr/>
                </a:tc>
                <a:tc>
                  <a:txBody>
                    <a:bodyPr/>
                    <a:lstStyle/>
                    <a:p>
                      <a:r>
                        <a:rPr lang="en-US" dirty="0"/>
                        <a:t>23</a:t>
                      </a:r>
                    </a:p>
                  </a:txBody>
                  <a:tcPr/>
                </a:tc>
                <a:extLst>
                  <a:ext uri="{0D108BD9-81ED-4DB2-BD59-A6C34878D82A}">
                    <a16:rowId xmlns:a16="http://schemas.microsoft.com/office/drawing/2014/main" val="821381672"/>
                  </a:ext>
                </a:extLst>
              </a:tr>
            </a:tbl>
          </a:graphicData>
        </a:graphic>
      </p:graphicFrame>
      <p:graphicFrame>
        <p:nvGraphicFramePr>
          <p:cNvPr id="6" name="Table 6">
            <a:extLst>
              <a:ext uri="{FF2B5EF4-FFF2-40B4-BE49-F238E27FC236}">
                <a16:creationId xmlns:a16="http://schemas.microsoft.com/office/drawing/2014/main" id="{7A099FC3-9AE9-EB45-92E5-BEDB7A6B94FD}"/>
              </a:ext>
            </a:extLst>
          </p:cNvPr>
          <p:cNvGraphicFramePr>
            <a:graphicFrameLocks noGrp="1"/>
          </p:cNvGraphicFramePr>
          <p:nvPr>
            <p:extLst>
              <p:ext uri="{D42A27DB-BD31-4B8C-83A1-F6EECF244321}">
                <p14:modId xmlns:p14="http://schemas.microsoft.com/office/powerpoint/2010/main" val="1929016534"/>
              </p:ext>
            </p:extLst>
          </p:nvPr>
        </p:nvGraphicFramePr>
        <p:xfrm>
          <a:off x="1122218" y="4376245"/>
          <a:ext cx="6587838" cy="1854200"/>
        </p:xfrm>
        <a:graphic>
          <a:graphicData uri="http://schemas.openxmlformats.org/drawingml/2006/table">
            <a:tbl>
              <a:tblPr firstRow="1" bandRow="1">
                <a:tableStyleId>{F5AB1C69-6EDB-4FF4-983F-18BD219EF322}</a:tableStyleId>
              </a:tblPr>
              <a:tblGrid>
                <a:gridCol w="2195946">
                  <a:extLst>
                    <a:ext uri="{9D8B030D-6E8A-4147-A177-3AD203B41FA5}">
                      <a16:colId xmlns:a16="http://schemas.microsoft.com/office/drawing/2014/main" val="3539237860"/>
                    </a:ext>
                  </a:extLst>
                </a:gridCol>
                <a:gridCol w="2195946">
                  <a:extLst>
                    <a:ext uri="{9D8B030D-6E8A-4147-A177-3AD203B41FA5}">
                      <a16:colId xmlns:a16="http://schemas.microsoft.com/office/drawing/2014/main" val="1036392558"/>
                    </a:ext>
                  </a:extLst>
                </a:gridCol>
                <a:gridCol w="2195946">
                  <a:extLst>
                    <a:ext uri="{9D8B030D-6E8A-4147-A177-3AD203B41FA5}">
                      <a16:colId xmlns:a16="http://schemas.microsoft.com/office/drawing/2014/main" val="3848788082"/>
                    </a:ext>
                  </a:extLst>
                </a:gridCol>
              </a:tblGrid>
              <a:tr h="370840">
                <a:tc>
                  <a:txBody>
                    <a:bodyPr/>
                    <a:lstStyle/>
                    <a:p>
                      <a:endParaRPr lang="en-US"/>
                    </a:p>
                  </a:txBody>
                  <a:tcPr/>
                </a:tc>
                <a:tc>
                  <a:txBody>
                    <a:bodyPr/>
                    <a:lstStyle/>
                    <a:p>
                      <a:r>
                        <a:rPr lang="en-US" dirty="0"/>
                        <a:t>Dracula</a:t>
                      </a:r>
                    </a:p>
                  </a:txBody>
                  <a:tcPr/>
                </a:tc>
                <a:tc>
                  <a:txBody>
                    <a:bodyPr/>
                    <a:lstStyle/>
                    <a:p>
                      <a:r>
                        <a:rPr lang="en-US" dirty="0"/>
                        <a:t>Pride &amp; Prejudice</a:t>
                      </a:r>
                    </a:p>
                  </a:txBody>
                  <a:tcPr/>
                </a:tc>
                <a:extLst>
                  <a:ext uri="{0D108BD9-81ED-4DB2-BD59-A6C34878D82A}">
                    <a16:rowId xmlns:a16="http://schemas.microsoft.com/office/drawing/2014/main" val="3076858439"/>
                  </a:ext>
                </a:extLst>
              </a:tr>
              <a:tr h="370840">
                <a:tc>
                  <a:txBody>
                    <a:bodyPr/>
                    <a:lstStyle/>
                    <a:p>
                      <a:r>
                        <a:rPr lang="en-US" dirty="0"/>
                        <a:t>Having</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157733260"/>
                  </a:ext>
                </a:extLst>
              </a:tr>
              <a:tr h="370840">
                <a:tc>
                  <a:txBody>
                    <a:bodyPr/>
                    <a:lstStyle/>
                    <a:p>
                      <a:r>
                        <a:rPr lang="en-US" dirty="0"/>
                        <a:t>had</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063200473"/>
                  </a:ext>
                </a:extLst>
              </a:tr>
              <a:tr h="370840">
                <a:tc>
                  <a:txBody>
                    <a:bodyPr/>
                    <a:lstStyle/>
                    <a:p>
                      <a:r>
                        <a:rPr lang="en-US" dirty="0"/>
                        <a:t>some</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92037719"/>
                  </a:ext>
                </a:extLst>
              </a:tr>
              <a:tr h="370840">
                <a:tc>
                  <a:txBody>
                    <a:bodyPr/>
                    <a:lstStyle/>
                    <a:p>
                      <a:r>
                        <a:rPr lang="en-US" dirty="0"/>
                        <a:t>time</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974640972"/>
                  </a:ext>
                </a:extLst>
              </a:tr>
            </a:tbl>
          </a:graphicData>
        </a:graphic>
      </p:graphicFrame>
    </p:spTree>
    <p:extLst>
      <p:ext uri="{BB962C8B-B14F-4D97-AF65-F5344CB8AC3E}">
        <p14:creationId xmlns:p14="http://schemas.microsoft.com/office/powerpoint/2010/main" val="4037406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75CE92-F20B-084E-9D40-E02E8B2A208C}"/>
              </a:ext>
            </a:extLst>
          </p:cNvPr>
          <p:cNvSpPr>
            <a:spLocks noGrp="1"/>
          </p:cNvSpPr>
          <p:nvPr>
            <p:ph idx="1"/>
          </p:nvPr>
        </p:nvSpPr>
        <p:spPr/>
        <p:txBody>
          <a:bodyPr/>
          <a:lstStyle/>
          <a:p>
            <a:r>
              <a:rPr lang="en-US" dirty="0"/>
              <a:t>Cares about word order</a:t>
            </a:r>
          </a:p>
          <a:p>
            <a:pPr lvl="1"/>
            <a:r>
              <a:rPr lang="en-US" dirty="0"/>
              <a:t>Uses POS tagging</a:t>
            </a:r>
          </a:p>
          <a:p>
            <a:pPr lvl="1"/>
            <a:r>
              <a:rPr lang="en-US" dirty="0" err="1"/>
              <a:t>Hiearchical</a:t>
            </a:r>
            <a:r>
              <a:rPr lang="en-US" dirty="0"/>
              <a:t> blocking and linking elements</a:t>
            </a:r>
          </a:p>
          <a:p>
            <a:pPr lvl="2"/>
            <a:r>
              <a:rPr lang="en-US" dirty="0"/>
              <a:t>Noun phrases linked to verbs</a:t>
            </a:r>
          </a:p>
          <a:p>
            <a:pPr lvl="2"/>
            <a:endParaRPr lang="en-US" dirty="0"/>
          </a:p>
          <a:p>
            <a:r>
              <a:rPr lang="en-US" dirty="0"/>
              <a:t>Much more sophisticated and resource intensive relative to bag of words</a:t>
            </a:r>
          </a:p>
        </p:txBody>
      </p:sp>
      <p:sp>
        <p:nvSpPr>
          <p:cNvPr id="4" name="Title 1">
            <a:extLst>
              <a:ext uri="{FF2B5EF4-FFF2-40B4-BE49-F238E27FC236}">
                <a16:creationId xmlns:a16="http://schemas.microsoft.com/office/drawing/2014/main" id="{9F3CB5F1-E6B9-B747-BBE8-D53E2F26A544}"/>
              </a:ext>
            </a:extLst>
          </p:cNvPr>
          <p:cNvSpPr>
            <a:spLocks noGrp="1"/>
          </p:cNvSpPr>
          <p:nvPr>
            <p:ph type="title"/>
          </p:nvPr>
        </p:nvSpPr>
        <p:spPr/>
        <p:txBody>
          <a:bodyPr/>
          <a:lstStyle/>
          <a:p>
            <a:r>
              <a:rPr lang="en-US" dirty="0"/>
              <a:t>Types of Text Mining: Syntactic Parsing</a:t>
            </a:r>
          </a:p>
        </p:txBody>
      </p:sp>
    </p:spTree>
    <p:extLst>
      <p:ext uri="{BB962C8B-B14F-4D97-AF65-F5344CB8AC3E}">
        <p14:creationId xmlns:p14="http://schemas.microsoft.com/office/powerpoint/2010/main" val="3006557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94AAB-1667-9841-BC29-0F3241EE2E74}"/>
              </a:ext>
            </a:extLst>
          </p:cNvPr>
          <p:cNvSpPr>
            <a:spLocks noGrp="1"/>
          </p:cNvSpPr>
          <p:nvPr>
            <p:ph type="title"/>
          </p:nvPr>
        </p:nvSpPr>
        <p:spPr/>
        <p:txBody>
          <a:bodyPr/>
          <a:lstStyle/>
          <a:p>
            <a:r>
              <a:rPr lang="en-US" dirty="0"/>
              <a:t>Prepping for text mining in Markdown</a:t>
            </a:r>
          </a:p>
        </p:txBody>
      </p:sp>
      <p:sp>
        <p:nvSpPr>
          <p:cNvPr id="3" name="Content Placeholder 2">
            <a:extLst>
              <a:ext uri="{FF2B5EF4-FFF2-40B4-BE49-F238E27FC236}">
                <a16:creationId xmlns:a16="http://schemas.microsoft.com/office/drawing/2014/main" id="{69970799-5660-DC41-889C-22C38F320FCF}"/>
              </a:ext>
            </a:extLst>
          </p:cNvPr>
          <p:cNvSpPr>
            <a:spLocks noGrp="1"/>
          </p:cNvSpPr>
          <p:nvPr>
            <p:ph idx="1"/>
          </p:nvPr>
        </p:nvSpPr>
        <p:spPr>
          <a:xfrm>
            <a:off x="357357" y="1299165"/>
            <a:ext cx="8229600" cy="2620963"/>
          </a:xfrm>
        </p:spPr>
        <p:txBody>
          <a:bodyPr/>
          <a:lstStyle/>
          <a:p>
            <a:r>
              <a:rPr lang="en-US" dirty="0"/>
              <a:t>Make sure your header is descriptive</a:t>
            </a:r>
          </a:p>
          <a:p>
            <a:r>
              <a:rPr lang="en-US" dirty="0"/>
              <a:t>Turn off strings as factors!</a:t>
            </a:r>
          </a:p>
        </p:txBody>
      </p:sp>
      <p:pic>
        <p:nvPicPr>
          <p:cNvPr id="5" name="Picture 4">
            <a:extLst>
              <a:ext uri="{FF2B5EF4-FFF2-40B4-BE49-F238E27FC236}">
                <a16:creationId xmlns:a16="http://schemas.microsoft.com/office/drawing/2014/main" id="{32BE75B4-0D47-6A4F-9CCB-74A353856D6A}"/>
              </a:ext>
            </a:extLst>
          </p:cNvPr>
          <p:cNvPicPr>
            <a:picLocks noChangeAspect="1"/>
          </p:cNvPicPr>
          <p:nvPr/>
        </p:nvPicPr>
        <p:blipFill>
          <a:blip r:embed="rId2"/>
          <a:stretch>
            <a:fillRect/>
          </a:stretch>
        </p:blipFill>
        <p:spPr>
          <a:xfrm>
            <a:off x="0" y="2609646"/>
            <a:ext cx="9144000" cy="3173866"/>
          </a:xfrm>
          <a:prstGeom prst="rect">
            <a:avLst/>
          </a:prstGeom>
        </p:spPr>
      </p:pic>
    </p:spTree>
    <p:extLst>
      <p:ext uri="{BB962C8B-B14F-4D97-AF65-F5344CB8AC3E}">
        <p14:creationId xmlns:p14="http://schemas.microsoft.com/office/powerpoint/2010/main" val="3011695485"/>
      </p:ext>
    </p:extLst>
  </p:cSld>
  <p:clrMapOvr>
    <a:masterClrMapping/>
  </p:clrMapOvr>
</p:sld>
</file>

<file path=ppt/theme/theme1.xml><?xml version="1.0" encoding="utf-8"?>
<a:theme xmlns:a="http://schemas.openxmlformats.org/drawingml/2006/main" name="JamieLab2014">
  <a:themeElements>
    <a:clrScheme name="Custom 12">
      <a:dk1>
        <a:srgbClr val="000000"/>
      </a:dk1>
      <a:lt1>
        <a:srgbClr val="000000"/>
      </a:lt1>
      <a:dk2>
        <a:srgbClr val="000000"/>
      </a:dk2>
      <a:lt2>
        <a:srgbClr val="000000"/>
      </a:lt2>
      <a:accent1>
        <a:srgbClr val="1E4649"/>
      </a:accent1>
      <a:accent2>
        <a:srgbClr val="333399"/>
      </a:accent2>
      <a:accent3>
        <a:srgbClr val="7F7F7F"/>
      </a:accent3>
      <a:accent4>
        <a:srgbClr val="000000"/>
      </a:accent4>
      <a:accent5>
        <a:srgbClr val="1E4649"/>
      </a:accent5>
      <a:accent6>
        <a:srgbClr val="2D2D8A"/>
      </a:accent6>
      <a:hlink>
        <a:srgbClr val="4C6600"/>
      </a:hlink>
      <a:folHlink>
        <a:srgbClr val="4C6600"/>
      </a:folHlink>
    </a:clrScheme>
    <a:fontScheme name="Executive">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bg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ReillyLabPPTTemplate_2020" id="{FB3CC629-BF11-3247-8BFD-E89EB377837E}" vid="{07269FEC-B042-E94D-BA37-BD3521E9CC5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JamieLab2014</Template>
  <TotalTime>10605</TotalTime>
  <Words>535</Words>
  <Application>Microsoft Macintosh PowerPoint</Application>
  <PresentationFormat>On-screen Show (4:3)</PresentationFormat>
  <Paragraphs>118</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Avenir</vt:lpstr>
      <vt:lpstr>Avenir Book</vt:lpstr>
      <vt:lpstr>Calibri</vt:lpstr>
      <vt:lpstr>Myriad Pro</vt:lpstr>
      <vt:lpstr>JamieLab2014</vt:lpstr>
      <vt:lpstr>PowerPoint Presentation</vt:lpstr>
      <vt:lpstr>How to learn R coding and getting help</vt:lpstr>
      <vt:lpstr>Using LLMs for Coding</vt:lpstr>
      <vt:lpstr>Setting Up for NLP </vt:lpstr>
      <vt:lpstr>File naming best practices</vt:lpstr>
      <vt:lpstr>Paths and directories</vt:lpstr>
      <vt:lpstr>Annotation</vt:lpstr>
      <vt:lpstr>RMarkdown</vt:lpstr>
      <vt:lpstr>What is text mining?</vt:lpstr>
      <vt:lpstr>Types of Text Mining: Bag of Words</vt:lpstr>
      <vt:lpstr>Bag of Words: Document Term Matrix</vt:lpstr>
      <vt:lpstr>Types of Text Mining: Syntactic Parsing</vt:lpstr>
      <vt:lpstr>Prepping for text mining in Markdown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Jamie Reilly</dc:creator>
  <cp:lastModifiedBy>Jamie Reilly</cp:lastModifiedBy>
  <cp:revision>37</cp:revision>
  <cp:lastPrinted>2018-11-26T14:05:20Z</cp:lastPrinted>
  <dcterms:created xsi:type="dcterms:W3CDTF">2020-08-12T15:08:13Z</dcterms:created>
  <dcterms:modified xsi:type="dcterms:W3CDTF">2026-01-13T21:16:22Z</dcterms:modified>
</cp:coreProperties>
</file>