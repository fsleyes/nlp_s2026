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1"/>
  </p:notesMasterIdLst>
  <p:sldIdLst>
    <p:sldId id="260" r:id="rId2"/>
    <p:sldId id="261" r:id="rId3"/>
    <p:sldId id="269" r:id="rId4"/>
    <p:sldId id="270" r:id="rId5"/>
    <p:sldId id="271" r:id="rId6"/>
    <p:sldId id="273" r:id="rId7"/>
    <p:sldId id="263" r:id="rId8"/>
    <p:sldId id="264" r:id="rId9"/>
    <p:sldId id="275" r:id="rId10"/>
    <p:sldId id="276" r:id="rId11"/>
    <p:sldId id="277" r:id="rId12"/>
    <p:sldId id="278" r:id="rId13"/>
    <p:sldId id="279" r:id="rId14"/>
    <p:sldId id="280" r:id="rId15"/>
    <p:sldId id="281" r:id="rId16"/>
    <p:sldId id="282" r:id="rId17"/>
    <p:sldId id="283" r:id="rId18"/>
    <p:sldId id="274" r:id="rId19"/>
    <p:sldId id="28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1613"/>
    <a:srgbClr val="476EE1"/>
    <a:srgbClr val="4AFF1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86136" autoAdjust="0"/>
  </p:normalViewPr>
  <p:slideViewPr>
    <p:cSldViewPr snapToGrid="0" snapToObjects="1">
      <p:cViewPr varScale="1">
        <p:scale>
          <a:sx n="104" d="100"/>
          <a:sy n="104" d="100"/>
        </p:scale>
        <p:origin x="208" y="464"/>
      </p:cViewPr>
      <p:guideLst>
        <p:guide orient="horz" pos="2184"/>
        <p:guide pos="2880"/>
      </p:guideLst>
    </p:cSldViewPr>
  </p:slideViewPr>
  <p:outlineViewPr>
    <p:cViewPr>
      <p:scale>
        <a:sx n="33" d="100"/>
        <a:sy n="33" d="100"/>
      </p:scale>
      <p:origin x="0" y="32136"/>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E44741-98FA-D246-81DB-5CCA3A4C76F4}" type="datetimeFigureOut">
              <a:rPr lang="en-US" smtClean="0"/>
              <a:t>5/4/26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F88DE0-09FA-0042-BC4F-C07494E5AF68}" type="slidenum">
              <a:rPr lang="en-US" smtClean="0"/>
              <a:t>‹#›</a:t>
            </a:fld>
            <a:endParaRPr lang="en-US"/>
          </a:p>
        </p:txBody>
      </p:sp>
    </p:spTree>
    <p:extLst>
      <p:ext uri="{BB962C8B-B14F-4D97-AF65-F5344CB8AC3E}">
        <p14:creationId xmlns:p14="http://schemas.microsoft.com/office/powerpoint/2010/main" val="33002455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significant and negative correlation between behavioral asymmetry and anxiety when leading 2 turns. let’s put this into context of what these actual values mean because it gets very abstract very quickly. </a:t>
            </a:r>
          </a:p>
          <a:p>
            <a:endParaRPr lang="en-US" dirty="0"/>
          </a:p>
          <a:p>
            <a:r>
              <a:rPr lang="en-US" dirty="0"/>
              <a:t>first, the </a:t>
            </a:r>
            <a:r>
              <a:rPr lang="en-US" dirty="0" err="1"/>
              <a:t>dbi</a:t>
            </a:r>
            <a:r>
              <a:rPr lang="en-US" dirty="0"/>
              <a:t> is a measure of behavioral asymmetry where POSITIVE values always means that the speaker (</a:t>
            </a:r>
            <a:r>
              <a:rPr lang="en-US" dirty="0" err="1"/>
              <a:t>ie</a:t>
            </a:r>
            <a:r>
              <a:rPr lang="en-US" dirty="0"/>
              <a:t> me) is putting in more effort than the other person</a:t>
            </a:r>
          </a:p>
          <a:p>
            <a:endParaRPr lang="en-US" dirty="0"/>
          </a:p>
          <a:p>
            <a:r>
              <a:rPr lang="en-US" dirty="0"/>
              <a:t>and this lead 2 correlation value is the relationship between THEIR anxiety value and MY anxiety value TWO TURNS LATER, meaning their linguistic anxiety is preceding my linguistic anxiety</a:t>
            </a:r>
          </a:p>
          <a:p>
            <a:endParaRPr lang="en-US" dirty="0"/>
          </a:p>
          <a:p>
            <a:r>
              <a:rPr lang="en-US" dirty="0"/>
              <a:t>putting that together, it means that the more effort </a:t>
            </a:r>
            <a:r>
              <a:rPr lang="en-US" dirty="0" err="1"/>
              <a:t>i</a:t>
            </a:r>
            <a:r>
              <a:rPr lang="en-US" dirty="0"/>
              <a:t> put into the conversation, the less their linguistic anxiety is pushing or moving my linguistic anxiety later. </a:t>
            </a:r>
            <a:r>
              <a:rPr lang="en-US" dirty="0" err="1"/>
              <a:t>i</a:t>
            </a:r>
            <a:r>
              <a:rPr lang="en-US" dirty="0"/>
              <a:t> am becoming less responsive to others’ emotional lead as conversational imbalance increases. maybe </a:t>
            </a:r>
            <a:r>
              <a:rPr lang="en-US" dirty="0" err="1"/>
              <a:t>i’m</a:t>
            </a:r>
            <a:r>
              <a:rPr lang="en-US" dirty="0"/>
              <a:t> too focused on the conversation going so </a:t>
            </a:r>
            <a:r>
              <a:rPr lang="en-US" dirty="0" err="1"/>
              <a:t>i</a:t>
            </a:r>
            <a:r>
              <a:rPr lang="en-US" dirty="0"/>
              <a:t> have less emotional bandwidth to pick up on their anxiety or that </a:t>
            </a:r>
            <a:r>
              <a:rPr lang="en-US" dirty="0" err="1"/>
              <a:t>i</a:t>
            </a:r>
            <a:r>
              <a:rPr lang="en-US" dirty="0"/>
              <a:t> am trying to be reassuring if </a:t>
            </a:r>
            <a:r>
              <a:rPr lang="en-US" dirty="0" err="1"/>
              <a:t>i</a:t>
            </a:r>
            <a:r>
              <a:rPr lang="en-US" dirty="0"/>
              <a:t> am picking up on that anxiety. the effort seems to be more directed towards maintaining the conversation rather than being more emotionally attuned. </a:t>
            </a:r>
          </a:p>
        </p:txBody>
      </p:sp>
      <p:sp>
        <p:nvSpPr>
          <p:cNvPr id="4" name="Slide Number Placeholder 3"/>
          <p:cNvSpPr>
            <a:spLocks noGrp="1"/>
          </p:cNvSpPr>
          <p:nvPr>
            <p:ph type="sldNum" sz="quarter" idx="5"/>
          </p:nvPr>
        </p:nvSpPr>
        <p:spPr/>
        <p:txBody>
          <a:bodyPr/>
          <a:lstStyle/>
          <a:p>
            <a:fld id="{C0F88DE0-09FA-0042-BC4F-C07494E5AF68}" type="slidenum">
              <a:rPr lang="en-US" smtClean="0"/>
              <a:t>14</a:t>
            </a:fld>
            <a:endParaRPr lang="en-US"/>
          </a:p>
        </p:txBody>
      </p:sp>
    </p:spTree>
    <p:extLst>
      <p:ext uri="{BB962C8B-B14F-4D97-AF65-F5344CB8AC3E}">
        <p14:creationId xmlns:p14="http://schemas.microsoft.com/office/powerpoint/2010/main" val="2046513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about this other result? the higher effort that </a:t>
            </a:r>
            <a:r>
              <a:rPr lang="en-US" dirty="0" err="1"/>
              <a:t>i’m</a:t>
            </a:r>
            <a:r>
              <a:rPr lang="en-US" dirty="0"/>
              <a:t> putting into this conversation, the more correlated our messages are in terms of emotional arousal turn by turn with no delay. </a:t>
            </a:r>
          </a:p>
          <a:p>
            <a:endParaRPr lang="en-US" dirty="0"/>
          </a:p>
          <a:p>
            <a:r>
              <a:rPr lang="en-US" dirty="0"/>
              <a:t>for each exchange, if it is a conversation </a:t>
            </a:r>
            <a:r>
              <a:rPr lang="en-US" dirty="0" err="1"/>
              <a:t>i</a:t>
            </a:r>
            <a:r>
              <a:rPr lang="en-US" dirty="0"/>
              <a:t> am putting disproportionately more effort into, then they are more likely to match my emotional arousal in the immediate reply. on one hand this makes some sense that if </a:t>
            </a:r>
            <a:r>
              <a:rPr lang="en-US" dirty="0" err="1"/>
              <a:t>i</a:t>
            </a:r>
            <a:r>
              <a:rPr lang="en-US" dirty="0"/>
              <a:t> am the one driving the conversation, then they are reacting to my tone in the moment and following my lead.</a:t>
            </a:r>
          </a:p>
          <a:p>
            <a:endParaRPr lang="en-US" dirty="0"/>
          </a:p>
          <a:p>
            <a:r>
              <a:rPr lang="en-US" dirty="0"/>
              <a:t>however you may have also expected that a more disengaged partner would be less emotionally reactive, so this is somewhat counterintuitive in my head. maybe arousal is relatively easy to mirror passively, or that we have stronger social pressure to mirror the tone of texts even if we’re not that invested in the convo especially with younger generations. </a:t>
            </a:r>
            <a:r>
              <a:rPr lang="en-US" dirty="0" err="1"/>
              <a:t>i’m</a:t>
            </a:r>
            <a:r>
              <a:rPr lang="en-US" dirty="0"/>
              <a:t> not sure what to make of this one just yet. </a:t>
            </a:r>
          </a:p>
        </p:txBody>
      </p:sp>
      <p:sp>
        <p:nvSpPr>
          <p:cNvPr id="4" name="Slide Number Placeholder 3"/>
          <p:cNvSpPr>
            <a:spLocks noGrp="1"/>
          </p:cNvSpPr>
          <p:nvPr>
            <p:ph type="sldNum" sz="quarter" idx="5"/>
          </p:nvPr>
        </p:nvSpPr>
        <p:spPr/>
        <p:txBody>
          <a:bodyPr/>
          <a:lstStyle/>
          <a:p>
            <a:fld id="{C0F88DE0-09FA-0042-BC4F-C07494E5AF68}" type="slidenum">
              <a:rPr lang="en-US" smtClean="0"/>
              <a:t>15</a:t>
            </a:fld>
            <a:endParaRPr lang="en-US"/>
          </a:p>
        </p:txBody>
      </p:sp>
    </p:spTree>
    <p:extLst>
      <p:ext uri="{BB962C8B-B14F-4D97-AF65-F5344CB8AC3E}">
        <p14:creationId xmlns:p14="http://schemas.microsoft.com/office/powerpoint/2010/main" val="3518185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46FD7-D7AF-8050-9D3B-7B91E6F82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52CB2-5C1B-72DC-65A4-EC6572134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1AAA5-45F8-3E61-4D5F-0449BE571BBF}"/>
              </a:ext>
            </a:extLst>
          </p:cNvPr>
          <p:cNvSpPr>
            <a:spLocks noGrp="1"/>
          </p:cNvSpPr>
          <p:nvPr>
            <p:ph type="body" idx="1"/>
          </p:nvPr>
        </p:nvSpPr>
        <p:spPr/>
        <p:txBody>
          <a:bodyPr/>
          <a:lstStyle/>
          <a:p>
            <a:r>
              <a:rPr lang="en-US" dirty="0"/>
              <a:t>let’s put this in the context of the individual indices to see if these can give us some insight into what variables are actually really driving these relationships.</a:t>
            </a:r>
          </a:p>
          <a:p>
            <a:endParaRPr lang="en-US" dirty="0"/>
          </a:p>
          <a:p>
            <a:r>
              <a:rPr lang="en-US" dirty="0"/>
              <a:t>for the anxiety finding we can see that this relationship is largely driven by number of words sent per message and number of messages sent. so there’s something about the anxiety values in the language that is related to asymmetry in literal volume of texts both in words and messages sent</a:t>
            </a:r>
          </a:p>
          <a:p>
            <a:endParaRPr lang="en-US" dirty="0"/>
          </a:p>
          <a:p>
            <a:r>
              <a:rPr lang="en-US" dirty="0"/>
              <a:t>and for the arousal finding it’s driven mostly by number of conversations initiated. so maybe it’s less about conversational effort at large but rather who is setting the tone at the beginning of each exchange. </a:t>
            </a:r>
          </a:p>
        </p:txBody>
      </p:sp>
      <p:sp>
        <p:nvSpPr>
          <p:cNvPr id="4" name="Slide Number Placeholder 3">
            <a:extLst>
              <a:ext uri="{FF2B5EF4-FFF2-40B4-BE49-F238E27FC236}">
                <a16:creationId xmlns:a16="http://schemas.microsoft.com/office/drawing/2014/main" id="{043CE0BD-FBF0-24B0-FB15-D73E18D5F832}"/>
              </a:ext>
            </a:extLst>
          </p:cNvPr>
          <p:cNvSpPr>
            <a:spLocks noGrp="1"/>
          </p:cNvSpPr>
          <p:nvPr>
            <p:ph type="sldNum" sz="quarter" idx="5"/>
          </p:nvPr>
        </p:nvSpPr>
        <p:spPr/>
        <p:txBody>
          <a:bodyPr/>
          <a:lstStyle/>
          <a:p>
            <a:fld id="{C0F88DE0-09FA-0042-BC4F-C07494E5AF68}" type="slidenum">
              <a:rPr lang="en-US" smtClean="0"/>
              <a:t>16</a:t>
            </a:fld>
            <a:endParaRPr lang="en-US"/>
          </a:p>
        </p:txBody>
      </p:sp>
    </p:spTree>
    <p:extLst>
      <p:ext uri="{BB962C8B-B14F-4D97-AF65-F5344CB8AC3E}">
        <p14:creationId xmlns:p14="http://schemas.microsoft.com/office/powerpoint/2010/main" val="1035666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3A13-72CB-D101-1501-9976870BC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E45C3-0F27-2BDD-1CF1-E2C81127E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EB3BC-9B80-ACD6-4FBC-107FFEA258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F25021-E04B-66EB-5699-5A26033E9D0E}"/>
              </a:ext>
            </a:extLst>
          </p:cNvPr>
          <p:cNvSpPr>
            <a:spLocks noGrp="1"/>
          </p:cNvSpPr>
          <p:nvPr>
            <p:ph type="sldNum" sz="quarter" idx="5"/>
          </p:nvPr>
        </p:nvSpPr>
        <p:spPr/>
        <p:txBody>
          <a:bodyPr/>
          <a:lstStyle/>
          <a:p>
            <a:fld id="{C0F88DE0-09FA-0042-BC4F-C07494E5AF68}" type="slidenum">
              <a:rPr lang="en-US" smtClean="0"/>
              <a:t>17</a:t>
            </a:fld>
            <a:endParaRPr lang="en-US"/>
          </a:p>
        </p:txBody>
      </p:sp>
    </p:spTree>
    <p:extLst>
      <p:ext uri="{BB962C8B-B14F-4D97-AF65-F5344CB8AC3E}">
        <p14:creationId xmlns:p14="http://schemas.microsoft.com/office/powerpoint/2010/main" val="20670408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763" y="-75486"/>
            <a:ext cx="8300720" cy="1143000"/>
          </a:xfrm>
        </p:spPr>
        <p:txBody>
          <a:bodyPr/>
          <a:lstStyle>
            <a:lvl1pPr algn="l">
              <a:defRPr sz="2400" b="0" i="0">
                <a:solidFill>
                  <a:srgbClr val="761613"/>
                </a:solidFill>
                <a:latin typeface="Avenir Book" panose="02000503020000020003" pitchFamily="2" charset="0"/>
              </a:defRPr>
            </a:lvl1pPr>
          </a:lstStyle>
          <a:p>
            <a:r>
              <a:rPr lang="en-US"/>
              <a:t>Click to edit Master title style</a:t>
            </a:r>
            <a:endParaRPr lang="en-US" dirty="0"/>
          </a:p>
        </p:txBody>
      </p:sp>
      <p:sp>
        <p:nvSpPr>
          <p:cNvPr id="3" name="Content Placeholder 2"/>
          <p:cNvSpPr>
            <a:spLocks noGrp="1"/>
          </p:cNvSpPr>
          <p:nvPr>
            <p:ph idx="1"/>
          </p:nvPr>
        </p:nvSpPr>
        <p:spPr>
          <a:xfrm>
            <a:off x="367748" y="1745974"/>
            <a:ext cx="8229600" cy="2620963"/>
          </a:xfrm>
        </p:spPr>
        <p:txBody>
          <a:bodyPr/>
          <a:lstStyle>
            <a:lvl1pPr>
              <a:defRPr sz="2100" b="0" i="0">
                <a:solidFill>
                  <a:schemeClr val="bg1"/>
                </a:solidFill>
                <a:latin typeface="Avenir Book" panose="02000503020000020003" pitchFamily="2" charset="0"/>
              </a:defRPr>
            </a:lvl1pPr>
            <a:lvl2pPr>
              <a:defRPr sz="1800" b="0" i="0">
                <a:solidFill>
                  <a:schemeClr val="accent3">
                    <a:lumMod val="60000"/>
                    <a:lumOff val="40000"/>
                  </a:schemeClr>
                </a:solidFill>
                <a:latin typeface="Avenir Book" panose="02000503020000020003" pitchFamily="2" charset="0"/>
              </a:defRPr>
            </a:lvl2pPr>
            <a:lvl3pPr>
              <a:defRPr sz="1800" b="0" i="0">
                <a:solidFill>
                  <a:schemeClr val="accent3">
                    <a:lumMod val="60000"/>
                    <a:lumOff val="40000"/>
                  </a:schemeClr>
                </a:solidFill>
                <a:latin typeface="Avenir Book" panose="02000503020000020003" pitchFamily="2" charset="0"/>
              </a:defRPr>
            </a:lvl3pPr>
            <a:lvl4pPr>
              <a:defRPr sz="1800" b="0" i="0">
                <a:solidFill>
                  <a:schemeClr val="accent3">
                    <a:lumMod val="60000"/>
                    <a:lumOff val="40000"/>
                  </a:schemeClr>
                </a:solidFill>
                <a:latin typeface="Avenir Book" panose="02000503020000020003" pitchFamily="2" charset="0"/>
              </a:defRPr>
            </a:lvl4pPr>
            <a:lvl5pPr>
              <a:defRPr sz="1800" b="0" i="0">
                <a:solidFill>
                  <a:schemeClr val="accent3">
                    <a:lumMod val="60000"/>
                    <a:lumOff val="40000"/>
                  </a:schemeClr>
                </a:solidFill>
                <a:latin typeface="Avenir Book"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37D3B09E-9F65-4899-C64B-79B22C5E4CB0}"/>
              </a:ext>
            </a:extLst>
          </p:cNvPr>
          <p:cNvPicPr>
            <a:picLocks noChangeAspect="1"/>
          </p:cNvPicPr>
          <p:nvPr userDrawn="1"/>
        </p:nvPicPr>
        <p:blipFill>
          <a:blip r:embed="rId2"/>
          <a:stretch>
            <a:fillRect/>
          </a:stretch>
        </p:blipFill>
        <p:spPr>
          <a:xfrm>
            <a:off x="0" y="751126"/>
            <a:ext cx="9144000" cy="316388"/>
          </a:xfrm>
          <a:prstGeom prst="rect">
            <a:avLst/>
          </a:prstGeom>
        </p:spPr>
      </p:pic>
      <p:pic>
        <p:nvPicPr>
          <p:cNvPr id="10" name="Content Placeholder 11" descr="A red and black cube&#10;&#10;Description automatically generated">
            <a:extLst>
              <a:ext uri="{FF2B5EF4-FFF2-40B4-BE49-F238E27FC236}">
                <a16:creationId xmlns:a16="http://schemas.microsoft.com/office/drawing/2014/main" id="{5B349350-96C4-539C-439A-2BC21D696EB1}"/>
              </a:ext>
            </a:extLst>
          </p:cNvPr>
          <p:cNvPicPr>
            <a:picLocks noChangeAspect="1"/>
          </p:cNvPicPr>
          <p:nvPr userDrawn="1"/>
        </p:nvPicPr>
        <p:blipFill>
          <a:blip r:embed="rId3"/>
          <a:stretch>
            <a:fillRect/>
          </a:stretch>
        </p:blipFill>
        <p:spPr bwMode="auto">
          <a:xfrm>
            <a:off x="8534400" y="6427946"/>
            <a:ext cx="497960" cy="348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118466997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6080" y="122238"/>
            <a:ext cx="830072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386080" y="1603734"/>
            <a:ext cx="8229600" cy="2620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txStyles>
    <p:titleStyle>
      <a:lvl1pPr algn="l" rtl="0" eaLnBrk="1" fontAlgn="base" hangingPunct="1">
        <a:spcBef>
          <a:spcPct val="0"/>
        </a:spcBef>
        <a:spcAft>
          <a:spcPct val="0"/>
        </a:spcAft>
        <a:defRPr sz="2400">
          <a:solidFill>
            <a:srgbClr val="761613"/>
          </a:solidFill>
          <a:latin typeface="Avenir Book" panose="02000503020000020003" pitchFamily="2" charset="0"/>
          <a:ea typeface="ＭＳ Ｐゴシック" charset="0"/>
          <a:cs typeface="Avenir Book" panose="02000503020000020003" pitchFamily="2" charset="0"/>
        </a:defRPr>
      </a:lvl1pPr>
      <a:lvl2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2pPr>
      <a:lvl3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3pPr>
      <a:lvl4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4pPr>
      <a:lvl5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3200">
          <a:solidFill>
            <a:srgbClr val="FFFF66"/>
          </a:solidFill>
          <a:latin typeface="Myriad Pro" pitchFamily="34" charset="0"/>
        </a:defRPr>
      </a:lvl6pPr>
      <a:lvl7pPr marL="914400" algn="ctr" rtl="0" eaLnBrk="1" fontAlgn="base" hangingPunct="1">
        <a:spcBef>
          <a:spcPct val="0"/>
        </a:spcBef>
        <a:spcAft>
          <a:spcPct val="0"/>
        </a:spcAft>
        <a:defRPr sz="3200">
          <a:solidFill>
            <a:srgbClr val="FFFF66"/>
          </a:solidFill>
          <a:latin typeface="Myriad Pro" pitchFamily="34" charset="0"/>
        </a:defRPr>
      </a:lvl7pPr>
      <a:lvl8pPr marL="1371600" algn="ctr" rtl="0" eaLnBrk="1" fontAlgn="base" hangingPunct="1">
        <a:spcBef>
          <a:spcPct val="0"/>
        </a:spcBef>
        <a:spcAft>
          <a:spcPct val="0"/>
        </a:spcAft>
        <a:defRPr sz="3200">
          <a:solidFill>
            <a:srgbClr val="FFFF66"/>
          </a:solidFill>
          <a:latin typeface="Myriad Pro" pitchFamily="34" charset="0"/>
        </a:defRPr>
      </a:lvl8pPr>
      <a:lvl9pPr marL="1828800" algn="ctr" rtl="0" eaLnBrk="1" fontAlgn="base" hangingPunct="1">
        <a:spcBef>
          <a:spcPct val="0"/>
        </a:spcBef>
        <a:spcAft>
          <a:spcPct val="0"/>
        </a:spcAft>
        <a:defRPr sz="3200">
          <a:solidFill>
            <a:srgbClr val="FFFF66"/>
          </a:solidFill>
          <a:latin typeface="Myriad Pro" pitchFamily="34" charset="0"/>
        </a:defRPr>
      </a:lvl9pPr>
    </p:titleStyle>
    <p:bodyStyle>
      <a:lvl1pPr marL="342900" indent="-342900" algn="l" rtl="0" eaLnBrk="1" fontAlgn="base" hangingPunct="1">
        <a:spcBef>
          <a:spcPct val="20000"/>
        </a:spcBef>
        <a:spcAft>
          <a:spcPct val="0"/>
        </a:spcAft>
        <a:buChar char="•"/>
        <a:defRPr sz="200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wnwang@temple.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66700" y="897256"/>
            <a:ext cx="8610600" cy="129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lvl1pPr marL="342900" indent="-342900" algn="l" rtl="0" eaLnBrk="0" fontAlgn="base" hangingPunct="0">
              <a:spcBef>
                <a:spcPct val="20000"/>
              </a:spcBef>
              <a:spcAft>
                <a:spcPct val="0"/>
              </a:spcAft>
              <a:buChar char="•"/>
              <a:defRPr sz="2400">
                <a:solidFill>
                  <a:schemeClr val="bg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400">
                <a:solidFill>
                  <a:schemeClr val="bg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bg1"/>
                </a:solidFill>
                <a:latin typeface="+mn-lt"/>
                <a:ea typeface="ＭＳ Ｐゴシック" charset="0"/>
              </a:defRPr>
            </a:lvl3pPr>
            <a:lvl4pPr marL="1600200" indent="-228600" algn="l" rtl="0" eaLnBrk="0" fontAlgn="base" hangingPunct="0">
              <a:spcBef>
                <a:spcPct val="20000"/>
              </a:spcBef>
              <a:spcAft>
                <a:spcPct val="0"/>
              </a:spcAft>
              <a:buChar char="–"/>
              <a:defRPr sz="2400">
                <a:solidFill>
                  <a:schemeClr val="bg1"/>
                </a:solidFill>
                <a:latin typeface="+mn-lt"/>
                <a:ea typeface="ＭＳ Ｐゴシック" charset="0"/>
              </a:defRPr>
            </a:lvl4pPr>
            <a:lvl5pPr marL="2057400" indent="-228600" algn="l" rtl="0" eaLnBrk="0" fontAlgn="base" hangingPunct="0">
              <a:spcBef>
                <a:spcPct val="20000"/>
              </a:spcBef>
              <a:spcAft>
                <a:spcPct val="0"/>
              </a:spcAft>
              <a:buChar char="»"/>
              <a:defRPr sz="2400">
                <a:solidFill>
                  <a:schemeClr val="bg1"/>
                </a:solidFill>
                <a:latin typeface="+mn-lt"/>
                <a:ea typeface="ＭＳ Ｐゴシック" charset="0"/>
              </a:defRPr>
            </a:lvl5pPr>
            <a:lvl6pPr marL="2514600" indent="-228600" algn="l" rtl="0" fontAlgn="base">
              <a:spcBef>
                <a:spcPct val="20000"/>
              </a:spcBef>
              <a:spcAft>
                <a:spcPct val="0"/>
              </a:spcAft>
              <a:buChar char="»"/>
              <a:defRPr sz="2400">
                <a:solidFill>
                  <a:schemeClr val="bg1"/>
                </a:solidFill>
                <a:latin typeface="+mn-lt"/>
              </a:defRPr>
            </a:lvl6pPr>
            <a:lvl7pPr marL="2971800" indent="-228600" algn="l" rtl="0" fontAlgn="base">
              <a:spcBef>
                <a:spcPct val="20000"/>
              </a:spcBef>
              <a:spcAft>
                <a:spcPct val="0"/>
              </a:spcAft>
              <a:buChar char="»"/>
              <a:defRPr sz="2400">
                <a:solidFill>
                  <a:schemeClr val="bg1"/>
                </a:solidFill>
                <a:latin typeface="+mn-lt"/>
              </a:defRPr>
            </a:lvl7pPr>
            <a:lvl8pPr marL="3429000" indent="-228600" algn="l" rtl="0" fontAlgn="base">
              <a:spcBef>
                <a:spcPct val="20000"/>
              </a:spcBef>
              <a:spcAft>
                <a:spcPct val="0"/>
              </a:spcAft>
              <a:buChar char="»"/>
              <a:defRPr sz="2400">
                <a:solidFill>
                  <a:schemeClr val="bg1"/>
                </a:solidFill>
                <a:latin typeface="+mn-lt"/>
              </a:defRPr>
            </a:lvl8pPr>
            <a:lvl9pPr marL="3886200" indent="-228600" algn="l" rtl="0" fontAlgn="base">
              <a:spcBef>
                <a:spcPct val="20000"/>
              </a:spcBef>
              <a:spcAft>
                <a:spcPct val="0"/>
              </a:spcAft>
              <a:buChar char="»"/>
              <a:defRPr sz="2400">
                <a:solidFill>
                  <a:schemeClr val="bg1"/>
                </a:solidFill>
                <a:latin typeface="+mn-lt"/>
              </a:defRPr>
            </a:lvl9pPr>
          </a:lstStyle>
          <a:p>
            <a:pPr algn="ctr" eaLnBrk="1" fontAlgn="auto" hangingPunct="1">
              <a:spcAft>
                <a:spcPts val="0"/>
              </a:spcAft>
              <a:buNone/>
              <a:defRPr/>
            </a:pPr>
            <a:r>
              <a:rPr lang="en-US" dirty="0">
                <a:solidFill>
                  <a:srgbClr val="761613"/>
                </a:solidFill>
                <a:latin typeface="Avenir"/>
                <a:ea typeface="+mn-ea"/>
                <a:cs typeface="Avenir"/>
              </a:rPr>
              <a:t>Dyadic Behavioral Asymmetry and Linguistic Alignment: an Effort-Reward Perspective</a:t>
            </a:r>
          </a:p>
          <a:p>
            <a:pPr algn="ctr" eaLnBrk="1" fontAlgn="auto" hangingPunct="1">
              <a:spcAft>
                <a:spcPts val="0"/>
              </a:spcAft>
              <a:buNone/>
              <a:defRPr/>
            </a:pPr>
            <a:endParaRPr lang="en-US" dirty="0">
              <a:solidFill>
                <a:srgbClr val="761613"/>
              </a:solidFill>
              <a:latin typeface="Avenir"/>
              <a:ea typeface="+mn-ea"/>
              <a:cs typeface="Avenir"/>
            </a:endParaRPr>
          </a:p>
          <a:p>
            <a:pPr algn="ctr" eaLnBrk="1" fontAlgn="auto" hangingPunct="1">
              <a:spcAft>
                <a:spcPts val="0"/>
              </a:spcAft>
              <a:buNone/>
              <a:defRPr/>
            </a:pPr>
            <a:r>
              <a:rPr lang="en-US" dirty="0">
                <a:solidFill>
                  <a:srgbClr val="761613"/>
                </a:solidFill>
                <a:latin typeface="Avenir"/>
                <a:ea typeface="+mn-ea"/>
                <a:cs typeface="Avenir"/>
              </a:rPr>
              <a:t>or:</a:t>
            </a:r>
          </a:p>
          <a:p>
            <a:pPr algn="ctr" eaLnBrk="1" fontAlgn="auto" hangingPunct="1">
              <a:spcAft>
                <a:spcPts val="0"/>
              </a:spcAft>
              <a:buNone/>
              <a:defRPr/>
            </a:pPr>
            <a:endParaRPr lang="en-US" dirty="0">
              <a:solidFill>
                <a:srgbClr val="761613"/>
              </a:solidFill>
              <a:latin typeface="Avenir"/>
              <a:ea typeface="+mn-ea"/>
              <a:cs typeface="Avenir"/>
            </a:endParaRPr>
          </a:p>
          <a:p>
            <a:pPr algn="ctr" eaLnBrk="1" fontAlgn="auto" hangingPunct="1">
              <a:spcAft>
                <a:spcPts val="0"/>
              </a:spcAft>
              <a:buNone/>
              <a:defRPr/>
            </a:pPr>
            <a:r>
              <a:rPr lang="en-US" dirty="0">
                <a:solidFill>
                  <a:srgbClr val="761613"/>
                </a:solidFill>
                <a:latin typeface="Avenir"/>
                <a:ea typeface="+mn-ea"/>
                <a:cs typeface="Avenir"/>
              </a:rPr>
              <a:t>The Down Bad Index and Other Fun Things</a:t>
            </a:r>
          </a:p>
          <a:p>
            <a:pPr algn="ctr" eaLnBrk="1" fontAlgn="auto" hangingPunct="1">
              <a:spcAft>
                <a:spcPts val="0"/>
              </a:spcAft>
              <a:buNone/>
              <a:defRPr/>
            </a:pPr>
            <a:endParaRPr lang="en-US" dirty="0">
              <a:solidFill>
                <a:srgbClr val="761613"/>
              </a:solidFill>
              <a:latin typeface="Avenir"/>
              <a:ea typeface="+mn-ea"/>
              <a:cs typeface="Avenir"/>
            </a:endParaRPr>
          </a:p>
          <a:p>
            <a:pPr algn="ctr" eaLnBrk="1" fontAlgn="auto" hangingPunct="1">
              <a:spcAft>
                <a:spcPts val="0"/>
              </a:spcAft>
              <a:buNone/>
              <a:defRPr/>
            </a:pPr>
            <a:r>
              <a:rPr lang="en-US" dirty="0">
                <a:solidFill>
                  <a:srgbClr val="761613"/>
                </a:solidFill>
                <a:latin typeface="Avenir"/>
                <a:ea typeface="+mn-ea"/>
                <a:cs typeface="Avenir"/>
              </a:rPr>
              <a:t>feat. fish from Baltimore Aquarium</a:t>
            </a:r>
          </a:p>
        </p:txBody>
      </p:sp>
      <p:sp>
        <p:nvSpPr>
          <p:cNvPr id="3" name="Content Placeholder 2">
            <a:extLst>
              <a:ext uri="{FF2B5EF4-FFF2-40B4-BE49-F238E27FC236}">
                <a16:creationId xmlns:a16="http://schemas.microsoft.com/office/drawing/2014/main" id="{592EB14F-1A68-32EA-326F-5C05D5D679AF}"/>
              </a:ext>
            </a:extLst>
          </p:cNvPr>
          <p:cNvSpPr>
            <a:spLocks noGrp="1"/>
          </p:cNvSpPr>
          <p:nvPr>
            <p:ph idx="1"/>
          </p:nvPr>
        </p:nvSpPr>
        <p:spPr>
          <a:xfrm>
            <a:off x="266700" y="4750677"/>
            <a:ext cx="8229600" cy="1649440"/>
          </a:xfrm>
        </p:spPr>
        <p:txBody>
          <a:bodyPr/>
          <a:lstStyle/>
          <a:p>
            <a:pPr marL="0" indent="0">
              <a:buNone/>
            </a:pPr>
            <a:r>
              <a:rPr lang="en-US" dirty="0" err="1"/>
              <a:t>shawn</a:t>
            </a:r>
            <a:r>
              <a:rPr lang="en-US" dirty="0"/>
              <a:t> wang</a:t>
            </a:r>
          </a:p>
          <a:p>
            <a:pPr marL="0" indent="0">
              <a:buNone/>
            </a:pPr>
            <a:r>
              <a:rPr lang="en-US" dirty="0">
                <a:hlinkClick r:id="rId2"/>
              </a:rPr>
              <a:t>shawnwang@temple.edu</a:t>
            </a:r>
            <a:endParaRPr lang="en-US" dirty="0"/>
          </a:p>
          <a:p>
            <a:pPr marL="0" indent="0">
              <a:buNone/>
            </a:pPr>
            <a:r>
              <a:rPr lang="en-US" dirty="0" err="1"/>
              <a:t>github.com</a:t>
            </a:r>
            <a:r>
              <a:rPr lang="en-US" dirty="0"/>
              <a:t>/</a:t>
            </a:r>
            <a:r>
              <a:rPr lang="en-US" dirty="0" err="1"/>
              <a:t>fsleyes</a:t>
            </a:r>
            <a:endParaRPr lang="en-US" dirty="0"/>
          </a:p>
        </p:txBody>
      </p:sp>
    </p:spTree>
    <p:extLst>
      <p:ext uri="{BB962C8B-B14F-4D97-AF65-F5344CB8AC3E}">
        <p14:creationId xmlns:p14="http://schemas.microsoft.com/office/powerpoint/2010/main" val="2809491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359BF-AD98-69ED-0D99-2C0E1B7C2F06}"/>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9D872763-B96E-99EE-9B7A-24C58BE82F2C}"/>
              </a:ext>
            </a:extLst>
          </p:cNvPr>
          <p:cNvSpPr>
            <a:spLocks noGrp="1"/>
          </p:cNvSpPr>
          <p:nvPr>
            <p:ph idx="1"/>
          </p:nvPr>
        </p:nvSpPr>
        <p:spPr>
          <a:xfrm>
            <a:off x="367748" y="1546277"/>
            <a:ext cx="8229600" cy="4350026"/>
          </a:xfrm>
        </p:spPr>
        <p:txBody>
          <a:bodyPr/>
          <a:lstStyle/>
          <a:p>
            <a:r>
              <a:rPr lang="en-US" dirty="0"/>
              <a:t>Social motivation is closely tied to a number of mental health outcomes, specifically within the field of mood disorders (Alloy et al., 2016)</a:t>
            </a:r>
          </a:p>
          <a:p>
            <a:r>
              <a:rPr lang="en-US" dirty="0"/>
              <a:t>In unipolar depression, anhedonia is a core symptom and is strongly linked to reduced motivation to pursue rewarding activities, such as social interactions (Gandhi et al., 2022)</a:t>
            </a:r>
          </a:p>
          <a:p>
            <a:r>
              <a:rPr lang="en-US" dirty="0"/>
              <a:t>In contrast, hypomanic and manic episodes in bipolar spectrum disorders (BSDs) feature increased talkativeness or pressured speech as a symptom (Crocamo et al., 2025; </a:t>
            </a:r>
            <a:r>
              <a:rPr lang="en-US" dirty="0" err="1"/>
              <a:t>Nusslock</a:t>
            </a:r>
            <a:r>
              <a:rPr lang="en-US" dirty="0"/>
              <a:t> et al., 2025).</a:t>
            </a:r>
          </a:p>
          <a:p>
            <a:endParaRPr lang="en-US" dirty="0"/>
          </a:p>
        </p:txBody>
      </p:sp>
    </p:spTree>
    <p:extLst>
      <p:ext uri="{BB962C8B-B14F-4D97-AF65-F5344CB8AC3E}">
        <p14:creationId xmlns:p14="http://schemas.microsoft.com/office/powerpoint/2010/main" val="384095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2674665-127A-B7F9-CC6E-EBA099C65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02E9C-75E4-21B4-FD39-796FE6E18A53}"/>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D689EFF0-6559-6AC2-8982-9421BFFD81C9}"/>
              </a:ext>
            </a:extLst>
          </p:cNvPr>
          <p:cNvSpPr>
            <a:spLocks noGrp="1"/>
          </p:cNvSpPr>
          <p:nvPr>
            <p:ph idx="1"/>
          </p:nvPr>
        </p:nvSpPr>
        <p:spPr>
          <a:xfrm>
            <a:off x="367748" y="1546277"/>
            <a:ext cx="8229600" cy="4350026"/>
          </a:xfrm>
        </p:spPr>
        <p:txBody>
          <a:bodyPr/>
          <a:lstStyle/>
          <a:p>
            <a:r>
              <a:rPr lang="en-US" dirty="0"/>
              <a:t>Within this framework, tasks such as the Effort Expenditure for Rewards Task attempt to provide an objective behavioral measure of reward motivation, showing that higher anhedonia predicts reduced reward motivation (Treadway et al., 2009).</a:t>
            </a:r>
          </a:p>
          <a:p>
            <a:r>
              <a:rPr lang="en-US" dirty="0"/>
              <a:t>Follow-up work links social anhedonia and depression symptoms to altered effort based decision making for monetary reward (McCarthy et al., 2015). </a:t>
            </a:r>
          </a:p>
          <a:p>
            <a:r>
              <a:rPr lang="en-US" dirty="0"/>
              <a:t>Similarly, evidence among those diagnosed with BSDs show heightened social reward anticipation in fMRI contexts (Alloy et al., 2016). </a:t>
            </a:r>
          </a:p>
          <a:p>
            <a:r>
              <a:rPr lang="en-US" dirty="0"/>
              <a:t>However, the role of social reward effort expenditure in individual with trait reward hypersensitivity is relatively less studied. </a:t>
            </a:r>
          </a:p>
          <a:p>
            <a:endParaRPr lang="en-US" dirty="0"/>
          </a:p>
        </p:txBody>
      </p:sp>
    </p:spTree>
    <p:extLst>
      <p:ext uri="{BB962C8B-B14F-4D97-AF65-F5344CB8AC3E}">
        <p14:creationId xmlns:p14="http://schemas.microsoft.com/office/powerpoint/2010/main" val="375519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6D894A-6F4E-63AE-88B0-AF5683B03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1FD41-BC45-6F67-A445-06F73A9E10FF}"/>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E327AAAD-3DDB-1C45-27DB-09BECD906A39}"/>
              </a:ext>
            </a:extLst>
          </p:cNvPr>
          <p:cNvSpPr>
            <a:spLocks noGrp="1"/>
          </p:cNvSpPr>
          <p:nvPr>
            <p:ph idx="1"/>
          </p:nvPr>
        </p:nvSpPr>
        <p:spPr>
          <a:xfrm>
            <a:off x="367748" y="1546277"/>
            <a:ext cx="8229600" cy="4350026"/>
          </a:xfrm>
        </p:spPr>
        <p:txBody>
          <a:bodyPr/>
          <a:lstStyle/>
          <a:p>
            <a:r>
              <a:rPr lang="en-US" dirty="0"/>
              <a:t>Findings from studies examining conversations in dyads suggest that linguistic alignment between participants may reflect engagement with each other rather than simple rapport (</a:t>
            </a:r>
            <a:r>
              <a:rPr lang="en-US" dirty="0" err="1"/>
              <a:t>Niederhoffer</a:t>
            </a:r>
            <a:r>
              <a:rPr lang="en-US" dirty="0"/>
              <a:t> &amp; Pennebaker, 2002)</a:t>
            </a:r>
          </a:p>
          <a:p>
            <a:r>
              <a:rPr lang="en-US" dirty="0"/>
              <a:t>This suggests that lexical alignment may represent a proxy of, or at least partially reflective of, effort that one party chooses to expend towards their conversational partner. </a:t>
            </a:r>
          </a:p>
          <a:p>
            <a:r>
              <a:rPr lang="en-US" dirty="0"/>
              <a:t>However, this hypothesis is yet untested, specifically within the domain of affective linguistic alignment (e.g. happiness, sadness, guilt, etc.). </a:t>
            </a:r>
          </a:p>
        </p:txBody>
      </p:sp>
    </p:spTree>
    <p:extLst>
      <p:ext uri="{BB962C8B-B14F-4D97-AF65-F5344CB8AC3E}">
        <p14:creationId xmlns:p14="http://schemas.microsoft.com/office/powerpoint/2010/main" val="69441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D9566D-60D2-41BF-07A2-5DD0089E5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E75DB-5D33-A519-451E-D6CE3EA6293B}"/>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Introduction</a:t>
            </a:r>
          </a:p>
        </p:txBody>
      </p:sp>
      <p:sp>
        <p:nvSpPr>
          <p:cNvPr id="14" name="Content Placeholder 13">
            <a:extLst>
              <a:ext uri="{FF2B5EF4-FFF2-40B4-BE49-F238E27FC236}">
                <a16:creationId xmlns:a16="http://schemas.microsoft.com/office/drawing/2014/main" id="{4950DE99-87BE-F6D4-7851-54C5E07D73F0}"/>
              </a:ext>
            </a:extLst>
          </p:cNvPr>
          <p:cNvSpPr>
            <a:spLocks noGrp="1"/>
          </p:cNvSpPr>
          <p:nvPr>
            <p:ph idx="1"/>
          </p:nvPr>
        </p:nvSpPr>
        <p:spPr>
          <a:xfrm>
            <a:off x="367748" y="1546277"/>
            <a:ext cx="8229600" cy="4350026"/>
          </a:xfrm>
        </p:spPr>
        <p:txBody>
          <a:bodyPr/>
          <a:lstStyle/>
          <a:p>
            <a:r>
              <a:rPr lang="en-US" dirty="0"/>
              <a:t>Furthermore, communicative effort in naturalistic texting may be treated as a domain-specific analog of effort-based decision making. </a:t>
            </a:r>
          </a:p>
          <a:p>
            <a:r>
              <a:rPr lang="en-US" dirty="0"/>
              <a:t>Individuals choose levels of effort to expend that are reflected through a number of behaviors (e.g. how often to initiate contact, how quickly to respond, how long messages should be, etc.) under uncertain social reward expectations. </a:t>
            </a:r>
          </a:p>
          <a:p>
            <a:r>
              <a:rPr lang="en-US" dirty="0"/>
              <a:t>This operationalization of effort expenditure for social reward is too, yet untested. </a:t>
            </a:r>
          </a:p>
        </p:txBody>
      </p:sp>
    </p:spTree>
    <p:extLst>
      <p:ext uri="{BB962C8B-B14F-4D97-AF65-F5344CB8AC3E}">
        <p14:creationId xmlns:p14="http://schemas.microsoft.com/office/powerpoint/2010/main" val="1121788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C445F-86A7-AAB7-CFBF-45148B267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8351B-3B0A-88A7-2C3F-6F2BDD22F6F1}"/>
              </a:ext>
            </a:extLst>
          </p:cNvPr>
          <p:cNvSpPr>
            <a:spLocks noGrp="1"/>
          </p:cNvSpPr>
          <p:nvPr>
            <p:ph type="title"/>
          </p:nvPr>
        </p:nvSpPr>
        <p:spPr>
          <a:xfrm>
            <a:off x="162682" y="0"/>
            <a:ext cx="8319052" cy="833120"/>
          </a:xfrm>
          <a:ln>
            <a:noFill/>
            <a:extLst>
              <a:ext uri="{C807C97D-BFC1-408E-A445-0C87EB9F89A2}">
                <ask:lineSketchStyleProps xmlns:ask="http://schemas.microsoft.com/office/drawing/2018/sketchyshapes" sd="1219033472">
                  <a:custGeom>
                    <a:avLst/>
                    <a:gdLst>
                      <a:gd name="connsiteX0" fmla="*/ 0 w 8319052"/>
                      <a:gd name="connsiteY0" fmla="*/ 0 h 970598"/>
                      <a:gd name="connsiteX1" fmla="*/ 8319052 w 8319052"/>
                      <a:gd name="connsiteY1" fmla="*/ 0 h 970598"/>
                      <a:gd name="connsiteX2" fmla="*/ 8319052 w 8319052"/>
                      <a:gd name="connsiteY2" fmla="*/ 970598 h 970598"/>
                      <a:gd name="connsiteX3" fmla="*/ 0 w 8319052"/>
                      <a:gd name="connsiteY3" fmla="*/ 970598 h 970598"/>
                      <a:gd name="connsiteX4" fmla="*/ 0 w 8319052"/>
                      <a:gd name="connsiteY4" fmla="*/ 0 h 970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052" h="970598" extrusionOk="0">
                        <a:moveTo>
                          <a:pt x="0" y="0"/>
                        </a:moveTo>
                        <a:cubicBezTo>
                          <a:pt x="2499354" y="118645"/>
                          <a:pt x="5564634" y="116012"/>
                          <a:pt x="8319052" y="0"/>
                        </a:cubicBezTo>
                        <a:cubicBezTo>
                          <a:pt x="8322443" y="148633"/>
                          <a:pt x="8253533" y="696633"/>
                          <a:pt x="8319052" y="970598"/>
                        </a:cubicBezTo>
                        <a:cubicBezTo>
                          <a:pt x="7221863" y="1105198"/>
                          <a:pt x="3373341" y="813402"/>
                          <a:pt x="0" y="970598"/>
                        </a:cubicBezTo>
                        <a:cubicBezTo>
                          <a:pt x="-54707" y="514557"/>
                          <a:pt x="-50697" y="418547"/>
                          <a:pt x="0" y="0"/>
                        </a:cubicBezTo>
                        <a:close/>
                      </a:path>
                    </a:pathLst>
                  </a:custGeom>
                  <ask:type>
                    <ask:lineSketchNone/>
                  </ask:type>
                </ask:lineSketchStyleProps>
              </a:ext>
            </a:extLst>
          </a:ln>
        </p:spPr>
        <p:txBody>
          <a:bodyPr/>
          <a:lstStyle/>
          <a:p>
            <a:r>
              <a:rPr lang="en-US" dirty="0"/>
              <a:t>Research Question</a:t>
            </a:r>
          </a:p>
        </p:txBody>
      </p:sp>
      <p:sp>
        <p:nvSpPr>
          <p:cNvPr id="14" name="Content Placeholder 13">
            <a:extLst>
              <a:ext uri="{FF2B5EF4-FFF2-40B4-BE49-F238E27FC236}">
                <a16:creationId xmlns:a16="http://schemas.microsoft.com/office/drawing/2014/main" id="{94783DF8-E4FA-9A07-B1A5-790DDA89DC52}"/>
              </a:ext>
            </a:extLst>
          </p:cNvPr>
          <p:cNvSpPr>
            <a:spLocks noGrp="1"/>
          </p:cNvSpPr>
          <p:nvPr>
            <p:ph idx="1"/>
          </p:nvPr>
        </p:nvSpPr>
        <p:spPr>
          <a:xfrm>
            <a:off x="367748" y="2643809"/>
            <a:ext cx="8229600" cy="3252494"/>
          </a:xfrm>
        </p:spPr>
        <p:txBody>
          <a:bodyPr/>
          <a:lstStyle/>
          <a:p>
            <a:pPr marL="0" indent="0" algn="ctr">
              <a:buNone/>
            </a:pPr>
            <a:r>
              <a:rPr lang="en-US" b="1" dirty="0"/>
              <a:t>I propose that the relationship between behavioral asymmetry and affective linguistic alignment is driven by motivated attention and effort expenditure.</a:t>
            </a:r>
          </a:p>
          <a:p>
            <a:pPr marL="0" indent="0" algn="ctr">
              <a:buNone/>
            </a:pPr>
            <a:endParaRPr lang="en-US" b="1" dirty="0"/>
          </a:p>
          <a:p>
            <a:pPr marL="0" indent="0">
              <a:buNone/>
            </a:pPr>
            <a:r>
              <a:rPr lang="en-US" b="1" dirty="0"/>
              <a:t>Research Question:</a:t>
            </a:r>
          </a:p>
          <a:p>
            <a:pPr marL="0" indent="0">
              <a:buNone/>
            </a:pPr>
            <a:r>
              <a:rPr lang="en-US" b="1" dirty="0"/>
              <a:t>Does the degree of dyadic linguistic alignment on affective dimensions by conversation predict dyadic behavioral asymmetry in that same conversation in a naturalistic text message corpus?</a:t>
            </a:r>
          </a:p>
        </p:txBody>
      </p:sp>
    </p:spTree>
    <p:extLst>
      <p:ext uri="{BB962C8B-B14F-4D97-AF65-F5344CB8AC3E}">
        <p14:creationId xmlns:p14="http://schemas.microsoft.com/office/powerpoint/2010/main" val="936329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DAF1-14CA-A5BC-4F23-C0D416DE2A30}"/>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810F265C-02BE-4550-E97C-F529AFB5D828}"/>
              </a:ext>
            </a:extLst>
          </p:cNvPr>
          <p:cNvSpPr>
            <a:spLocks noGrp="1"/>
          </p:cNvSpPr>
          <p:nvPr>
            <p:ph idx="1"/>
          </p:nvPr>
        </p:nvSpPr>
        <p:spPr/>
        <p:txBody>
          <a:bodyPr/>
          <a:lstStyle/>
          <a:p>
            <a:r>
              <a:rPr lang="en-US" dirty="0"/>
              <a:t>Greater linguistic alignment within a dyad will be negatively associated with dyadic behavioral asymmetry. That is, dyads with higher alignment will show lower behavioral effort asymmetry (i.e. more equal effort across dyad), whereas dyads with lower alignment will show greater behavioral asymmetry (i.e. less equal effort across dyad). </a:t>
            </a:r>
          </a:p>
        </p:txBody>
      </p:sp>
    </p:spTree>
    <p:extLst>
      <p:ext uri="{BB962C8B-B14F-4D97-AF65-F5344CB8AC3E}">
        <p14:creationId xmlns:p14="http://schemas.microsoft.com/office/powerpoint/2010/main" val="998733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572B9-AD59-085E-2D8A-08C2B3390C05}"/>
              </a:ext>
            </a:extLst>
          </p:cNvPr>
          <p:cNvSpPr>
            <a:spLocks noGrp="1"/>
          </p:cNvSpPr>
          <p:nvPr>
            <p:ph type="title"/>
          </p:nvPr>
        </p:nvSpPr>
        <p:spPr/>
        <p:txBody>
          <a:bodyPr/>
          <a:lstStyle/>
          <a:p>
            <a:r>
              <a:rPr lang="en-US" dirty="0"/>
              <a:t>Methods: </a:t>
            </a:r>
          </a:p>
        </p:txBody>
      </p:sp>
      <p:sp>
        <p:nvSpPr>
          <p:cNvPr id="3" name="Content Placeholder 2">
            <a:extLst>
              <a:ext uri="{FF2B5EF4-FFF2-40B4-BE49-F238E27FC236}">
                <a16:creationId xmlns:a16="http://schemas.microsoft.com/office/drawing/2014/main" id="{ADE23E56-3929-D9D7-5EFA-00230E07B276}"/>
              </a:ext>
            </a:extLst>
          </p:cNvPr>
          <p:cNvSpPr>
            <a:spLocks noGrp="1"/>
          </p:cNvSpPr>
          <p:nvPr>
            <p:ph idx="1"/>
          </p:nvPr>
        </p:nvSpPr>
        <p:spPr>
          <a:xfrm>
            <a:off x="367748" y="1772900"/>
            <a:ext cx="8229600" cy="2620963"/>
          </a:xfrm>
        </p:spPr>
        <p:txBody>
          <a:bodyPr/>
          <a:lstStyle/>
          <a:p>
            <a:pPr marL="0" indent="0">
              <a:buNone/>
            </a:pPr>
            <a:r>
              <a:rPr lang="en-US" dirty="0"/>
              <a:t>I hope you remember what the methods were from a few weeks ago!</a:t>
            </a:r>
          </a:p>
          <a:p>
            <a:pPr marL="0" indent="0">
              <a:buNone/>
            </a:pPr>
            <a:endParaRPr lang="en-US" dirty="0"/>
          </a:p>
          <a:p>
            <a:pPr marL="0" indent="0">
              <a:buNone/>
            </a:pPr>
            <a:r>
              <a:rPr lang="en-US" dirty="0"/>
              <a:t>dyadic behavioral asymmetry:</a:t>
            </a:r>
          </a:p>
        </p:txBody>
      </p:sp>
      <p:pic>
        <p:nvPicPr>
          <p:cNvPr id="7" name="Picture 6" descr="A group of fish swimming under water&#10;&#10;AI-generated content may be incorrect.">
            <a:extLst>
              <a:ext uri="{FF2B5EF4-FFF2-40B4-BE49-F238E27FC236}">
                <a16:creationId xmlns:a16="http://schemas.microsoft.com/office/drawing/2014/main" id="{91BD060F-D363-0DCE-AEDB-C869D821F2A8}"/>
              </a:ext>
            </a:extLst>
          </p:cNvPr>
          <p:cNvPicPr>
            <a:picLocks noChangeAspect="1"/>
          </p:cNvPicPr>
          <p:nvPr/>
        </p:nvPicPr>
        <p:blipFill>
          <a:blip r:embed="rId2"/>
          <a:stretch>
            <a:fillRect/>
          </a:stretch>
        </p:blipFill>
        <p:spPr>
          <a:xfrm>
            <a:off x="2699468" y="3429000"/>
            <a:ext cx="4164676" cy="3123507"/>
          </a:xfrm>
          <a:prstGeom prst="rect">
            <a:avLst/>
          </a:prstGeom>
        </p:spPr>
      </p:pic>
      <p:sp>
        <p:nvSpPr>
          <p:cNvPr id="8" name="Content Placeholder 2">
            <a:extLst>
              <a:ext uri="{FF2B5EF4-FFF2-40B4-BE49-F238E27FC236}">
                <a16:creationId xmlns:a16="http://schemas.microsoft.com/office/drawing/2014/main" id="{C3E7ADC5-CA68-61F6-62F9-5EA5292D8F7F}"/>
              </a:ext>
            </a:extLst>
          </p:cNvPr>
          <p:cNvSpPr txBox="1">
            <a:spLocks/>
          </p:cNvSpPr>
          <p:nvPr/>
        </p:nvSpPr>
        <p:spPr bwMode="auto">
          <a:xfrm>
            <a:off x="4377253" y="5050776"/>
            <a:ext cx="1499844" cy="5372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sz="1400" kern="0" dirty="0"/>
              <a:t>word ratio</a:t>
            </a:r>
          </a:p>
        </p:txBody>
      </p:sp>
      <p:sp>
        <p:nvSpPr>
          <p:cNvPr id="9" name="Content Placeholder 2">
            <a:extLst>
              <a:ext uri="{FF2B5EF4-FFF2-40B4-BE49-F238E27FC236}">
                <a16:creationId xmlns:a16="http://schemas.microsoft.com/office/drawing/2014/main" id="{CEC2EA0E-BA7C-488D-763C-8E69E13324DA}"/>
              </a:ext>
            </a:extLst>
          </p:cNvPr>
          <p:cNvSpPr txBox="1">
            <a:spLocks/>
          </p:cNvSpPr>
          <p:nvPr/>
        </p:nvSpPr>
        <p:spPr bwMode="auto">
          <a:xfrm>
            <a:off x="3033363" y="5112564"/>
            <a:ext cx="1499844" cy="5372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sz="1400" kern="0" dirty="0"/>
              <a:t>message ratio</a:t>
            </a:r>
          </a:p>
        </p:txBody>
      </p:sp>
      <p:sp>
        <p:nvSpPr>
          <p:cNvPr id="10" name="Content Placeholder 2">
            <a:extLst>
              <a:ext uri="{FF2B5EF4-FFF2-40B4-BE49-F238E27FC236}">
                <a16:creationId xmlns:a16="http://schemas.microsoft.com/office/drawing/2014/main" id="{1DED5091-D63E-7261-6A2E-82D45D88AC08}"/>
              </a:ext>
            </a:extLst>
          </p:cNvPr>
          <p:cNvSpPr txBox="1">
            <a:spLocks/>
          </p:cNvSpPr>
          <p:nvPr/>
        </p:nvSpPr>
        <p:spPr bwMode="auto">
          <a:xfrm>
            <a:off x="3281962" y="4275789"/>
            <a:ext cx="1499844" cy="5372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sz="1400" kern="0" dirty="0"/>
              <a:t>convo end ratio</a:t>
            </a:r>
          </a:p>
        </p:txBody>
      </p:sp>
      <p:sp>
        <p:nvSpPr>
          <p:cNvPr id="11" name="Content Placeholder 2">
            <a:extLst>
              <a:ext uri="{FF2B5EF4-FFF2-40B4-BE49-F238E27FC236}">
                <a16:creationId xmlns:a16="http://schemas.microsoft.com/office/drawing/2014/main" id="{C083D5B8-E7D0-F1FB-66B6-7585E55F59C4}"/>
              </a:ext>
            </a:extLst>
          </p:cNvPr>
          <p:cNvSpPr txBox="1">
            <a:spLocks/>
          </p:cNvSpPr>
          <p:nvPr/>
        </p:nvSpPr>
        <p:spPr bwMode="auto">
          <a:xfrm>
            <a:off x="4235457" y="4587371"/>
            <a:ext cx="1499844" cy="5372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sz="1400" kern="0" dirty="0"/>
              <a:t>convo start ratio</a:t>
            </a:r>
          </a:p>
        </p:txBody>
      </p:sp>
      <p:sp>
        <p:nvSpPr>
          <p:cNvPr id="12" name="Content Placeholder 2">
            <a:extLst>
              <a:ext uri="{FF2B5EF4-FFF2-40B4-BE49-F238E27FC236}">
                <a16:creationId xmlns:a16="http://schemas.microsoft.com/office/drawing/2014/main" id="{4EE4476E-A030-5E1F-10E4-09A4A3B04B43}"/>
              </a:ext>
            </a:extLst>
          </p:cNvPr>
          <p:cNvSpPr txBox="1">
            <a:spLocks/>
          </p:cNvSpPr>
          <p:nvPr/>
        </p:nvSpPr>
        <p:spPr bwMode="auto">
          <a:xfrm>
            <a:off x="5486702" y="4750595"/>
            <a:ext cx="1499844" cy="5372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sz="1400" kern="0" dirty="0"/>
              <a:t>response time ratio</a:t>
            </a:r>
          </a:p>
        </p:txBody>
      </p:sp>
    </p:spTree>
    <p:extLst>
      <p:ext uri="{BB962C8B-B14F-4D97-AF65-F5344CB8AC3E}">
        <p14:creationId xmlns:p14="http://schemas.microsoft.com/office/powerpoint/2010/main" val="3258123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2E906-C0A6-2F28-8147-FE2CBF5C3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23917-F529-E151-F3DC-95EE5A221852}"/>
              </a:ext>
            </a:extLst>
          </p:cNvPr>
          <p:cNvSpPr>
            <a:spLocks noGrp="1"/>
          </p:cNvSpPr>
          <p:nvPr>
            <p:ph type="title"/>
          </p:nvPr>
        </p:nvSpPr>
        <p:spPr/>
        <p:txBody>
          <a:bodyPr/>
          <a:lstStyle/>
          <a:p>
            <a:r>
              <a:rPr lang="en-US" dirty="0"/>
              <a:t>Methods: </a:t>
            </a:r>
          </a:p>
        </p:txBody>
      </p:sp>
      <p:sp>
        <p:nvSpPr>
          <p:cNvPr id="5" name="Content Placeholder 4">
            <a:extLst>
              <a:ext uri="{FF2B5EF4-FFF2-40B4-BE49-F238E27FC236}">
                <a16:creationId xmlns:a16="http://schemas.microsoft.com/office/drawing/2014/main" id="{901CCDE2-41FB-F223-8CC6-1DAFA185C70C}"/>
              </a:ext>
            </a:extLst>
          </p:cNvPr>
          <p:cNvSpPr>
            <a:spLocks noGrp="1"/>
          </p:cNvSpPr>
          <p:nvPr>
            <p:ph idx="1"/>
          </p:nvPr>
        </p:nvSpPr>
        <p:spPr>
          <a:xfrm>
            <a:off x="367748" y="1745974"/>
            <a:ext cx="3406230" cy="2620963"/>
          </a:xfrm>
        </p:spPr>
        <p:txBody>
          <a:bodyPr/>
          <a:lstStyle/>
          <a:p>
            <a:pPr marL="0" indent="0">
              <a:buNone/>
            </a:pPr>
            <a:r>
              <a:rPr lang="en-US" dirty="0"/>
              <a:t>high conversation alignment:</a:t>
            </a:r>
          </a:p>
        </p:txBody>
      </p:sp>
      <p:sp>
        <p:nvSpPr>
          <p:cNvPr id="6" name="Content Placeholder 4">
            <a:extLst>
              <a:ext uri="{FF2B5EF4-FFF2-40B4-BE49-F238E27FC236}">
                <a16:creationId xmlns:a16="http://schemas.microsoft.com/office/drawing/2014/main" id="{001DFA72-4BBB-2AD7-340D-3D6AEFD8947E}"/>
              </a:ext>
            </a:extLst>
          </p:cNvPr>
          <p:cNvSpPr txBox="1">
            <a:spLocks/>
          </p:cNvSpPr>
          <p:nvPr/>
        </p:nvSpPr>
        <p:spPr bwMode="auto">
          <a:xfrm>
            <a:off x="5370022" y="1745974"/>
            <a:ext cx="3406230" cy="2620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t>low conversation alignment:</a:t>
            </a:r>
          </a:p>
        </p:txBody>
      </p:sp>
      <p:pic>
        <p:nvPicPr>
          <p:cNvPr id="16" name="Picture 15">
            <a:extLst>
              <a:ext uri="{FF2B5EF4-FFF2-40B4-BE49-F238E27FC236}">
                <a16:creationId xmlns:a16="http://schemas.microsoft.com/office/drawing/2014/main" id="{4DDB296D-DFB1-6DFC-6EE7-56A92FB648A5}"/>
              </a:ext>
            </a:extLst>
          </p:cNvPr>
          <p:cNvPicPr>
            <a:picLocks noChangeAspect="1"/>
          </p:cNvPicPr>
          <p:nvPr/>
        </p:nvPicPr>
        <p:blipFill>
          <a:blip r:embed="rId2"/>
          <a:stretch>
            <a:fillRect/>
          </a:stretch>
        </p:blipFill>
        <p:spPr>
          <a:xfrm>
            <a:off x="494607" y="3213244"/>
            <a:ext cx="3695007" cy="2307386"/>
          </a:xfrm>
          <a:prstGeom prst="rect">
            <a:avLst/>
          </a:prstGeom>
        </p:spPr>
      </p:pic>
      <p:pic>
        <p:nvPicPr>
          <p:cNvPr id="18" name="Picture 17" descr="A graph with a red line and green line&#10;&#10;AI-generated content may be incorrect.">
            <a:extLst>
              <a:ext uri="{FF2B5EF4-FFF2-40B4-BE49-F238E27FC236}">
                <a16:creationId xmlns:a16="http://schemas.microsoft.com/office/drawing/2014/main" id="{1CE71648-C1BA-A7E4-72A3-A4DDB4BDF2C2}"/>
              </a:ext>
            </a:extLst>
          </p:cNvPr>
          <p:cNvPicPr>
            <a:picLocks noChangeAspect="1"/>
          </p:cNvPicPr>
          <p:nvPr/>
        </p:nvPicPr>
        <p:blipFill>
          <a:blip r:embed="rId3"/>
          <a:stretch>
            <a:fillRect/>
          </a:stretch>
        </p:blipFill>
        <p:spPr>
          <a:xfrm>
            <a:off x="5113688" y="3119250"/>
            <a:ext cx="3662564" cy="2495373"/>
          </a:xfrm>
          <a:prstGeom prst="rect">
            <a:avLst/>
          </a:prstGeom>
        </p:spPr>
      </p:pic>
    </p:spTree>
    <p:extLst>
      <p:ext uri="{BB962C8B-B14F-4D97-AF65-F5344CB8AC3E}">
        <p14:creationId xmlns:p14="http://schemas.microsoft.com/office/powerpoint/2010/main" val="426357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6B2E4-0A81-5B40-A22B-5548CA15B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AF13C-FCF4-332B-8FA7-FDA61EA474D7}"/>
              </a:ext>
            </a:extLst>
          </p:cNvPr>
          <p:cNvSpPr>
            <a:spLocks noGrp="1"/>
          </p:cNvSpPr>
          <p:nvPr>
            <p:ph type="title"/>
          </p:nvPr>
        </p:nvSpPr>
        <p:spPr/>
        <p:txBody>
          <a:bodyPr/>
          <a:lstStyle/>
          <a:p>
            <a:r>
              <a:rPr lang="en-US" dirty="0"/>
              <a:t>Methods: </a:t>
            </a:r>
          </a:p>
        </p:txBody>
      </p:sp>
      <p:sp>
        <p:nvSpPr>
          <p:cNvPr id="4" name="Content Placeholder 3">
            <a:extLst>
              <a:ext uri="{FF2B5EF4-FFF2-40B4-BE49-F238E27FC236}">
                <a16:creationId xmlns:a16="http://schemas.microsoft.com/office/drawing/2014/main" id="{C9065CBB-7B21-705F-5A25-D629AE8AD378}"/>
              </a:ext>
            </a:extLst>
          </p:cNvPr>
          <p:cNvSpPr>
            <a:spLocks noGrp="1"/>
          </p:cNvSpPr>
          <p:nvPr>
            <p:ph idx="1"/>
          </p:nvPr>
        </p:nvSpPr>
        <p:spPr>
          <a:xfrm>
            <a:off x="367748" y="1745974"/>
            <a:ext cx="3730427" cy="2620963"/>
          </a:xfrm>
        </p:spPr>
        <p:txBody>
          <a:bodyPr/>
          <a:lstStyle/>
          <a:p>
            <a:pPr marL="0" indent="0">
              <a:buNone/>
            </a:pPr>
            <a:r>
              <a:rPr lang="en-US" dirty="0"/>
              <a:t>Five linguistic dimensions:</a:t>
            </a:r>
          </a:p>
          <a:p>
            <a:pPr marL="0" indent="0">
              <a:buNone/>
            </a:pPr>
            <a:endParaRPr lang="en-US" dirty="0"/>
          </a:p>
          <a:p>
            <a:pPr>
              <a:buFontTx/>
              <a:buChar char="-"/>
            </a:pPr>
            <a:r>
              <a:rPr lang="en-US" dirty="0"/>
              <a:t>anxiety</a:t>
            </a:r>
          </a:p>
          <a:p>
            <a:pPr>
              <a:buFontTx/>
              <a:buChar char="-"/>
            </a:pPr>
            <a:r>
              <a:rPr lang="en-US" dirty="0"/>
              <a:t>arousal</a:t>
            </a:r>
          </a:p>
          <a:p>
            <a:pPr>
              <a:buFontTx/>
              <a:buChar char="-"/>
            </a:pPr>
            <a:r>
              <a:rPr lang="en-US" dirty="0"/>
              <a:t>happiness</a:t>
            </a:r>
          </a:p>
          <a:p>
            <a:pPr>
              <a:buFontTx/>
              <a:buChar char="-"/>
            </a:pPr>
            <a:r>
              <a:rPr lang="en-US" dirty="0"/>
              <a:t>intensity</a:t>
            </a:r>
          </a:p>
          <a:p>
            <a:pPr>
              <a:buFontTx/>
              <a:buChar char="-"/>
            </a:pPr>
            <a:r>
              <a:rPr lang="en-US" dirty="0"/>
              <a:t>sadness</a:t>
            </a:r>
          </a:p>
          <a:p>
            <a:pPr>
              <a:buFontTx/>
              <a:buChar char="-"/>
            </a:pPr>
            <a:endParaRPr lang="en-US" dirty="0"/>
          </a:p>
        </p:txBody>
      </p:sp>
      <p:sp>
        <p:nvSpPr>
          <p:cNvPr id="7" name="Content Placeholder 3">
            <a:extLst>
              <a:ext uri="{FF2B5EF4-FFF2-40B4-BE49-F238E27FC236}">
                <a16:creationId xmlns:a16="http://schemas.microsoft.com/office/drawing/2014/main" id="{DAE7F443-10AD-7C85-8DC2-C400B874E06B}"/>
              </a:ext>
            </a:extLst>
          </p:cNvPr>
          <p:cNvSpPr txBox="1">
            <a:spLocks/>
          </p:cNvSpPr>
          <p:nvPr/>
        </p:nvSpPr>
        <p:spPr bwMode="auto">
          <a:xfrm>
            <a:off x="5045827" y="1745974"/>
            <a:ext cx="3730427" cy="2620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t>AUC:</a:t>
            </a:r>
          </a:p>
          <a:p>
            <a:pPr defTabSz="914400">
              <a:buFontTx/>
              <a:buChar char="-"/>
            </a:pPr>
            <a:r>
              <a:rPr lang="en-US" kern="0" dirty="0"/>
              <a:t>Immediate AUC</a:t>
            </a:r>
          </a:p>
          <a:p>
            <a:pPr defTabSz="914400">
              <a:buFontTx/>
              <a:buChar char="-"/>
            </a:pPr>
            <a:r>
              <a:rPr lang="en-US" kern="0" dirty="0"/>
              <a:t>Lagged AUC</a:t>
            </a:r>
          </a:p>
          <a:p>
            <a:pPr defTabSz="914400">
              <a:buFontTx/>
              <a:buChar char="-"/>
            </a:pPr>
            <a:r>
              <a:rPr lang="en-US" kern="0" dirty="0"/>
              <a:t>Lead AUC</a:t>
            </a:r>
          </a:p>
          <a:p>
            <a:pPr defTabSz="914400">
              <a:buFontTx/>
              <a:buChar char="-"/>
            </a:pPr>
            <a:endParaRPr lang="en-US" kern="0" dirty="0"/>
          </a:p>
          <a:p>
            <a:pPr marL="0" indent="0" defTabSz="914400">
              <a:buNone/>
            </a:pPr>
            <a:r>
              <a:rPr lang="en-US" kern="0" dirty="0"/>
              <a:t>Turn Corr:</a:t>
            </a:r>
          </a:p>
          <a:p>
            <a:pPr defTabSz="914400">
              <a:buFontTx/>
              <a:buChar char="-"/>
            </a:pPr>
            <a:r>
              <a:rPr lang="en-US" kern="0" dirty="0"/>
              <a:t>Immediate turn corr.</a:t>
            </a:r>
          </a:p>
          <a:p>
            <a:pPr defTabSz="914400">
              <a:buFontTx/>
              <a:buChar char="-"/>
            </a:pPr>
            <a:r>
              <a:rPr lang="en-US" kern="0" dirty="0"/>
              <a:t>Lagged turn corr.</a:t>
            </a:r>
          </a:p>
          <a:p>
            <a:pPr defTabSz="914400">
              <a:buFontTx/>
              <a:buChar char="-"/>
            </a:pPr>
            <a:r>
              <a:rPr lang="en-US" kern="0" dirty="0"/>
              <a:t>Lead turn corr.</a:t>
            </a:r>
          </a:p>
        </p:txBody>
      </p:sp>
    </p:spTree>
    <p:extLst>
      <p:ext uri="{BB962C8B-B14F-4D97-AF65-F5344CB8AC3E}">
        <p14:creationId xmlns:p14="http://schemas.microsoft.com/office/powerpoint/2010/main" val="275509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B435D-D9A3-589A-86E5-C76252C04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33808-36CE-BC58-3150-E1774B0D1F78}"/>
              </a:ext>
            </a:extLst>
          </p:cNvPr>
          <p:cNvSpPr>
            <a:spLocks noGrp="1"/>
          </p:cNvSpPr>
          <p:nvPr>
            <p:ph type="title"/>
          </p:nvPr>
        </p:nvSpPr>
        <p:spPr/>
        <p:txBody>
          <a:bodyPr/>
          <a:lstStyle/>
          <a:p>
            <a:r>
              <a:rPr lang="en-US" dirty="0"/>
              <a:t>Methods: </a:t>
            </a:r>
          </a:p>
        </p:txBody>
      </p:sp>
      <p:pic>
        <p:nvPicPr>
          <p:cNvPr id="9" name="Picture 8">
            <a:extLst>
              <a:ext uri="{FF2B5EF4-FFF2-40B4-BE49-F238E27FC236}">
                <a16:creationId xmlns:a16="http://schemas.microsoft.com/office/drawing/2014/main" id="{DFEE97F7-F1A7-C018-DA5D-16D9CAEDFD47}"/>
              </a:ext>
            </a:extLst>
          </p:cNvPr>
          <p:cNvPicPr>
            <a:picLocks noChangeAspect="1"/>
          </p:cNvPicPr>
          <p:nvPr/>
        </p:nvPicPr>
        <p:blipFill>
          <a:blip r:embed="rId2"/>
          <a:stretch>
            <a:fillRect/>
          </a:stretch>
        </p:blipFill>
        <p:spPr>
          <a:xfrm>
            <a:off x="367746" y="1153486"/>
            <a:ext cx="4141501" cy="5550318"/>
          </a:xfrm>
          <a:prstGeom prst="rect">
            <a:avLst/>
          </a:prstGeom>
        </p:spPr>
      </p:pic>
      <p:cxnSp>
        <p:nvCxnSpPr>
          <p:cNvPr id="12" name="Straight Arrow Connector 11">
            <a:extLst>
              <a:ext uri="{FF2B5EF4-FFF2-40B4-BE49-F238E27FC236}">
                <a16:creationId xmlns:a16="http://schemas.microsoft.com/office/drawing/2014/main" id="{C4DB9995-D9E7-4887-9871-6619A58ED3B4}"/>
              </a:ext>
            </a:extLst>
          </p:cNvPr>
          <p:cNvCxnSpPr>
            <a:cxnSpLocks/>
          </p:cNvCxnSpPr>
          <p:nvPr/>
        </p:nvCxnSpPr>
        <p:spPr bwMode="auto">
          <a:xfrm flipH="1">
            <a:off x="1828800" y="3237722"/>
            <a:ext cx="979714" cy="1782147"/>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
        <p:nvSpPr>
          <p:cNvPr id="14" name="TextBox 13">
            <a:extLst>
              <a:ext uri="{FF2B5EF4-FFF2-40B4-BE49-F238E27FC236}">
                <a16:creationId xmlns:a16="http://schemas.microsoft.com/office/drawing/2014/main" id="{6D885188-CA2E-DAA7-AC59-E1A5DE34FE54}"/>
              </a:ext>
            </a:extLst>
          </p:cNvPr>
          <p:cNvSpPr txBox="1"/>
          <p:nvPr/>
        </p:nvSpPr>
        <p:spPr>
          <a:xfrm rot="17964016">
            <a:off x="1520618" y="4131984"/>
            <a:ext cx="854721" cy="369332"/>
          </a:xfrm>
          <a:prstGeom prst="rect">
            <a:avLst/>
          </a:prstGeom>
          <a:noFill/>
        </p:spPr>
        <p:txBody>
          <a:bodyPr wrap="none" rtlCol="0">
            <a:spAutoFit/>
          </a:bodyPr>
          <a:lstStyle/>
          <a:p>
            <a:r>
              <a:rPr lang="en-US" dirty="0">
                <a:solidFill>
                  <a:srgbClr val="FF0000"/>
                </a:solidFill>
              </a:rPr>
              <a:t>LAG 1</a:t>
            </a:r>
          </a:p>
        </p:txBody>
      </p:sp>
      <p:sp>
        <p:nvSpPr>
          <p:cNvPr id="19" name="Content Placeholder 3">
            <a:extLst>
              <a:ext uri="{FF2B5EF4-FFF2-40B4-BE49-F238E27FC236}">
                <a16:creationId xmlns:a16="http://schemas.microsoft.com/office/drawing/2014/main" id="{F1FF9569-5120-B8F6-A2A3-FA98580767CC}"/>
              </a:ext>
            </a:extLst>
          </p:cNvPr>
          <p:cNvSpPr txBox="1">
            <a:spLocks/>
          </p:cNvSpPr>
          <p:nvPr/>
        </p:nvSpPr>
        <p:spPr bwMode="auto">
          <a:xfrm>
            <a:off x="5123582" y="1745974"/>
            <a:ext cx="3730427" cy="37964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t>Six alignment metrics:</a:t>
            </a:r>
          </a:p>
          <a:p>
            <a:pPr marL="0" indent="0" defTabSz="914400">
              <a:buFontTx/>
              <a:buNone/>
            </a:pPr>
            <a:endParaRPr lang="en-US" kern="0" dirty="0"/>
          </a:p>
          <a:p>
            <a:pPr defTabSz="914400">
              <a:buFontTx/>
              <a:buChar char="-"/>
            </a:pPr>
            <a:r>
              <a:rPr lang="en-US" kern="0" dirty="0"/>
              <a:t>Immediate AUC</a:t>
            </a:r>
          </a:p>
          <a:p>
            <a:pPr defTabSz="914400">
              <a:buFontTx/>
              <a:buChar char="-"/>
            </a:pPr>
            <a:r>
              <a:rPr lang="en-US" kern="0" dirty="0">
                <a:solidFill>
                  <a:srgbClr val="FF0000"/>
                </a:solidFill>
              </a:rPr>
              <a:t>Lag 1 AUC</a:t>
            </a:r>
          </a:p>
          <a:p>
            <a:pPr defTabSz="914400">
              <a:buFontTx/>
              <a:buChar char="-"/>
            </a:pPr>
            <a:r>
              <a:rPr lang="en-US" kern="0" dirty="0"/>
              <a:t>Lead 2 AUC</a:t>
            </a:r>
          </a:p>
          <a:p>
            <a:pPr defTabSz="914400">
              <a:buFontTx/>
              <a:buChar char="-"/>
            </a:pPr>
            <a:r>
              <a:rPr lang="en-US" kern="0" dirty="0"/>
              <a:t>Immediate turn corr.</a:t>
            </a:r>
          </a:p>
          <a:p>
            <a:pPr defTabSz="914400">
              <a:buFontTx/>
              <a:buChar char="-"/>
            </a:pPr>
            <a:r>
              <a:rPr lang="en-US" kern="0" dirty="0">
                <a:solidFill>
                  <a:srgbClr val="FF0000"/>
                </a:solidFill>
              </a:rPr>
              <a:t>Lag 1 turn corr.</a:t>
            </a:r>
          </a:p>
          <a:p>
            <a:pPr defTabSz="914400">
              <a:buFontTx/>
              <a:buChar char="-"/>
            </a:pPr>
            <a:r>
              <a:rPr lang="en-US" kern="0" dirty="0"/>
              <a:t>Lead 2 turn corr.</a:t>
            </a:r>
          </a:p>
        </p:txBody>
      </p:sp>
    </p:spTree>
    <p:extLst>
      <p:ext uri="{BB962C8B-B14F-4D97-AF65-F5344CB8AC3E}">
        <p14:creationId xmlns:p14="http://schemas.microsoft.com/office/powerpoint/2010/main" val="3206145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A5AC5-05C9-4E84-B19D-51CAF8220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42087-4CC0-BCCC-BCFF-6A5D28D7B74B}"/>
              </a:ext>
            </a:extLst>
          </p:cNvPr>
          <p:cNvSpPr>
            <a:spLocks noGrp="1"/>
          </p:cNvSpPr>
          <p:nvPr>
            <p:ph type="title"/>
          </p:nvPr>
        </p:nvSpPr>
        <p:spPr/>
        <p:txBody>
          <a:bodyPr/>
          <a:lstStyle/>
          <a:p>
            <a:r>
              <a:rPr lang="en-US" dirty="0"/>
              <a:t>Methods: </a:t>
            </a:r>
          </a:p>
        </p:txBody>
      </p:sp>
      <p:pic>
        <p:nvPicPr>
          <p:cNvPr id="9" name="Picture 8">
            <a:extLst>
              <a:ext uri="{FF2B5EF4-FFF2-40B4-BE49-F238E27FC236}">
                <a16:creationId xmlns:a16="http://schemas.microsoft.com/office/drawing/2014/main" id="{93CE8D12-09BB-6F7D-6240-10547DC475BA}"/>
              </a:ext>
            </a:extLst>
          </p:cNvPr>
          <p:cNvPicPr>
            <a:picLocks noChangeAspect="1"/>
          </p:cNvPicPr>
          <p:nvPr/>
        </p:nvPicPr>
        <p:blipFill>
          <a:blip r:embed="rId2"/>
          <a:stretch>
            <a:fillRect/>
          </a:stretch>
        </p:blipFill>
        <p:spPr>
          <a:xfrm>
            <a:off x="367746" y="1153486"/>
            <a:ext cx="4141501" cy="5550318"/>
          </a:xfrm>
          <a:prstGeom prst="rect">
            <a:avLst/>
          </a:prstGeom>
        </p:spPr>
      </p:pic>
      <p:cxnSp>
        <p:nvCxnSpPr>
          <p:cNvPr id="12" name="Straight Arrow Connector 11">
            <a:extLst>
              <a:ext uri="{FF2B5EF4-FFF2-40B4-BE49-F238E27FC236}">
                <a16:creationId xmlns:a16="http://schemas.microsoft.com/office/drawing/2014/main" id="{4D54132F-8B79-66E7-71E6-68B1D4C5CDC9}"/>
              </a:ext>
            </a:extLst>
          </p:cNvPr>
          <p:cNvCxnSpPr>
            <a:cxnSpLocks/>
          </p:cNvCxnSpPr>
          <p:nvPr/>
        </p:nvCxnSpPr>
        <p:spPr bwMode="auto">
          <a:xfrm>
            <a:off x="1035698" y="1898374"/>
            <a:ext cx="2118049" cy="3541373"/>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
        <p:nvSpPr>
          <p:cNvPr id="14" name="TextBox 13">
            <a:extLst>
              <a:ext uri="{FF2B5EF4-FFF2-40B4-BE49-F238E27FC236}">
                <a16:creationId xmlns:a16="http://schemas.microsoft.com/office/drawing/2014/main" id="{DE602F0E-3A8B-7D6C-4B04-5C0984FDCA30}"/>
              </a:ext>
            </a:extLst>
          </p:cNvPr>
          <p:cNvSpPr txBox="1"/>
          <p:nvPr/>
        </p:nvSpPr>
        <p:spPr>
          <a:xfrm rot="3659502">
            <a:off x="1412577" y="2825062"/>
            <a:ext cx="997389" cy="369332"/>
          </a:xfrm>
          <a:prstGeom prst="rect">
            <a:avLst/>
          </a:prstGeom>
          <a:noFill/>
        </p:spPr>
        <p:txBody>
          <a:bodyPr wrap="none" rtlCol="0">
            <a:spAutoFit/>
          </a:bodyPr>
          <a:lstStyle/>
          <a:p>
            <a:r>
              <a:rPr lang="en-US" dirty="0">
                <a:solidFill>
                  <a:srgbClr val="FF0000"/>
                </a:solidFill>
              </a:rPr>
              <a:t>LEAD 2</a:t>
            </a:r>
          </a:p>
        </p:txBody>
      </p:sp>
      <p:sp>
        <p:nvSpPr>
          <p:cNvPr id="5" name="Content Placeholder 3">
            <a:extLst>
              <a:ext uri="{FF2B5EF4-FFF2-40B4-BE49-F238E27FC236}">
                <a16:creationId xmlns:a16="http://schemas.microsoft.com/office/drawing/2014/main" id="{DDBD5BEF-E83B-54E5-1749-9B316576B676}"/>
              </a:ext>
            </a:extLst>
          </p:cNvPr>
          <p:cNvSpPr txBox="1">
            <a:spLocks/>
          </p:cNvSpPr>
          <p:nvPr/>
        </p:nvSpPr>
        <p:spPr bwMode="auto">
          <a:xfrm>
            <a:off x="5198227" y="1898374"/>
            <a:ext cx="3730427" cy="37964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t>Six alignment metrics:</a:t>
            </a:r>
          </a:p>
          <a:p>
            <a:pPr marL="0" indent="0" defTabSz="914400">
              <a:buFontTx/>
              <a:buNone/>
            </a:pPr>
            <a:endParaRPr lang="en-US" kern="0" dirty="0"/>
          </a:p>
          <a:p>
            <a:pPr defTabSz="914400">
              <a:buFontTx/>
              <a:buChar char="-"/>
            </a:pPr>
            <a:r>
              <a:rPr lang="en-US" kern="0" dirty="0"/>
              <a:t>Immediate AUC</a:t>
            </a:r>
          </a:p>
          <a:p>
            <a:pPr defTabSz="914400">
              <a:buFontTx/>
              <a:buChar char="-"/>
            </a:pPr>
            <a:r>
              <a:rPr lang="en-US" kern="0" dirty="0"/>
              <a:t>Lag 1 AUC</a:t>
            </a:r>
          </a:p>
          <a:p>
            <a:pPr defTabSz="914400">
              <a:buFontTx/>
              <a:buChar char="-"/>
            </a:pPr>
            <a:r>
              <a:rPr lang="en-US" kern="0" dirty="0">
                <a:solidFill>
                  <a:srgbClr val="FF0000"/>
                </a:solidFill>
              </a:rPr>
              <a:t>Lead 2 AUC</a:t>
            </a:r>
          </a:p>
          <a:p>
            <a:pPr defTabSz="914400">
              <a:buFontTx/>
              <a:buChar char="-"/>
            </a:pPr>
            <a:r>
              <a:rPr lang="en-US" kern="0" dirty="0"/>
              <a:t>Immediate turn corr.</a:t>
            </a:r>
          </a:p>
          <a:p>
            <a:pPr defTabSz="914400">
              <a:buFontTx/>
              <a:buChar char="-"/>
            </a:pPr>
            <a:r>
              <a:rPr lang="en-US" kern="0" dirty="0"/>
              <a:t>Lag 1 turn corr.</a:t>
            </a:r>
          </a:p>
          <a:p>
            <a:pPr defTabSz="914400">
              <a:buFontTx/>
              <a:buChar char="-"/>
            </a:pPr>
            <a:r>
              <a:rPr lang="en-US" kern="0" dirty="0">
                <a:solidFill>
                  <a:srgbClr val="FF0000"/>
                </a:solidFill>
              </a:rPr>
              <a:t>Lead 2 turn corr.</a:t>
            </a:r>
          </a:p>
        </p:txBody>
      </p:sp>
    </p:spTree>
    <p:extLst>
      <p:ext uri="{BB962C8B-B14F-4D97-AF65-F5344CB8AC3E}">
        <p14:creationId xmlns:p14="http://schemas.microsoft.com/office/powerpoint/2010/main" val="717806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A4B7E-8E28-96FB-DFC6-59F0EDC11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509D3-38F5-D839-3BF8-81396D4B7988}"/>
              </a:ext>
            </a:extLst>
          </p:cNvPr>
          <p:cNvSpPr>
            <a:spLocks noGrp="1"/>
          </p:cNvSpPr>
          <p:nvPr>
            <p:ph type="title"/>
          </p:nvPr>
        </p:nvSpPr>
        <p:spPr/>
        <p:txBody>
          <a:bodyPr/>
          <a:lstStyle/>
          <a:p>
            <a:r>
              <a:rPr lang="en-US" dirty="0"/>
              <a:t>Results: </a:t>
            </a:r>
          </a:p>
        </p:txBody>
      </p:sp>
      <p:pic>
        <p:nvPicPr>
          <p:cNvPr id="4" name="Picture 3" descr="A diagram of a graph&#10;&#10;AI-generated content may be incorrect.">
            <a:extLst>
              <a:ext uri="{FF2B5EF4-FFF2-40B4-BE49-F238E27FC236}">
                <a16:creationId xmlns:a16="http://schemas.microsoft.com/office/drawing/2014/main" id="{B5AA8BDA-6E3A-C992-EBB8-752AF29A8649}"/>
              </a:ext>
            </a:extLst>
          </p:cNvPr>
          <p:cNvPicPr>
            <a:picLocks noChangeAspect="1"/>
          </p:cNvPicPr>
          <p:nvPr/>
        </p:nvPicPr>
        <p:blipFill>
          <a:blip r:embed="rId2"/>
          <a:srcRect t="28499" b="36224"/>
          <a:stretch>
            <a:fillRect/>
          </a:stretch>
        </p:blipFill>
        <p:spPr>
          <a:xfrm>
            <a:off x="755779" y="2285999"/>
            <a:ext cx="7802626" cy="2752531"/>
          </a:xfrm>
          <a:prstGeom prst="rect">
            <a:avLst/>
          </a:prstGeom>
        </p:spPr>
      </p:pic>
      <p:sp>
        <p:nvSpPr>
          <p:cNvPr id="5" name="Down Arrow 4">
            <a:extLst>
              <a:ext uri="{FF2B5EF4-FFF2-40B4-BE49-F238E27FC236}">
                <a16:creationId xmlns:a16="http://schemas.microsoft.com/office/drawing/2014/main" id="{97B23828-43E6-D3F3-D021-FDB7BE1BD1BE}"/>
              </a:ext>
            </a:extLst>
          </p:cNvPr>
          <p:cNvSpPr/>
          <p:nvPr/>
        </p:nvSpPr>
        <p:spPr bwMode="auto">
          <a:xfrm>
            <a:off x="3760236" y="2043404"/>
            <a:ext cx="46654" cy="998376"/>
          </a:xfrm>
          <a:prstGeom prst="downArrow">
            <a:avLst/>
          </a:prstGeom>
          <a:solidFill>
            <a:schemeClr val="accent1"/>
          </a:solid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ndParaRPr>
          </a:p>
        </p:txBody>
      </p:sp>
      <p:sp>
        <p:nvSpPr>
          <p:cNvPr id="10" name="Down Arrow 9">
            <a:extLst>
              <a:ext uri="{FF2B5EF4-FFF2-40B4-BE49-F238E27FC236}">
                <a16:creationId xmlns:a16="http://schemas.microsoft.com/office/drawing/2014/main" id="{D7F759CB-CCC3-D580-94F1-42A2DAF420AF}"/>
              </a:ext>
            </a:extLst>
          </p:cNvPr>
          <p:cNvSpPr/>
          <p:nvPr/>
        </p:nvSpPr>
        <p:spPr bwMode="auto">
          <a:xfrm rot="10800000">
            <a:off x="5190930" y="3576735"/>
            <a:ext cx="46654" cy="998376"/>
          </a:xfrm>
          <a:prstGeom prst="downArrow">
            <a:avLst/>
          </a:prstGeom>
          <a:solidFill>
            <a:schemeClr val="accent1"/>
          </a:solid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ndParaRPr>
          </a:p>
        </p:txBody>
      </p:sp>
      <p:sp>
        <p:nvSpPr>
          <p:cNvPr id="13" name="Content Placeholder 3">
            <a:extLst>
              <a:ext uri="{FF2B5EF4-FFF2-40B4-BE49-F238E27FC236}">
                <a16:creationId xmlns:a16="http://schemas.microsoft.com/office/drawing/2014/main" id="{4ABD5341-05FC-60B3-8E7E-968A53BA60D2}"/>
              </a:ext>
            </a:extLst>
          </p:cNvPr>
          <p:cNvSpPr txBox="1">
            <a:spLocks/>
          </p:cNvSpPr>
          <p:nvPr/>
        </p:nvSpPr>
        <p:spPr bwMode="auto">
          <a:xfrm>
            <a:off x="2569567" y="1528042"/>
            <a:ext cx="2474646" cy="540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solidFill>
                  <a:srgbClr val="FF0000"/>
                </a:solidFill>
              </a:rPr>
              <a:t>Corr. Lead 2 </a:t>
            </a:r>
            <a:r>
              <a:rPr lang="en-US" kern="0" dirty="0" err="1">
                <a:solidFill>
                  <a:srgbClr val="FF0000"/>
                </a:solidFill>
              </a:rPr>
              <a:t>Anx</a:t>
            </a:r>
            <a:endParaRPr lang="en-US" kern="0" dirty="0">
              <a:solidFill>
                <a:srgbClr val="FF0000"/>
              </a:solidFill>
            </a:endParaRPr>
          </a:p>
        </p:txBody>
      </p:sp>
      <p:sp>
        <p:nvSpPr>
          <p:cNvPr id="15" name="Content Placeholder 3">
            <a:extLst>
              <a:ext uri="{FF2B5EF4-FFF2-40B4-BE49-F238E27FC236}">
                <a16:creationId xmlns:a16="http://schemas.microsoft.com/office/drawing/2014/main" id="{261A37D2-43F0-4EBC-50C7-1C8C6F7045D5}"/>
              </a:ext>
            </a:extLst>
          </p:cNvPr>
          <p:cNvSpPr txBox="1">
            <a:spLocks/>
          </p:cNvSpPr>
          <p:nvPr/>
        </p:nvSpPr>
        <p:spPr bwMode="auto">
          <a:xfrm>
            <a:off x="3760236" y="4789933"/>
            <a:ext cx="3251013" cy="540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solidFill>
                  <a:srgbClr val="FF0000"/>
                </a:solidFill>
              </a:rPr>
              <a:t>Corr. Immediate Arousal</a:t>
            </a:r>
          </a:p>
        </p:txBody>
      </p:sp>
    </p:spTree>
    <p:extLst>
      <p:ext uri="{BB962C8B-B14F-4D97-AF65-F5344CB8AC3E}">
        <p14:creationId xmlns:p14="http://schemas.microsoft.com/office/powerpoint/2010/main" val="10429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2336-CED9-0FAC-3B85-7985B378D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D5946-EEA1-C32B-26C5-D434BB6CA538}"/>
              </a:ext>
            </a:extLst>
          </p:cNvPr>
          <p:cNvSpPr>
            <a:spLocks noGrp="1"/>
          </p:cNvSpPr>
          <p:nvPr>
            <p:ph type="title"/>
          </p:nvPr>
        </p:nvSpPr>
        <p:spPr/>
        <p:txBody>
          <a:bodyPr/>
          <a:lstStyle/>
          <a:p>
            <a:r>
              <a:rPr lang="en-US" dirty="0"/>
              <a:t>Results: </a:t>
            </a:r>
          </a:p>
        </p:txBody>
      </p:sp>
      <p:pic>
        <p:nvPicPr>
          <p:cNvPr id="4" name="Picture 3" descr="A diagram of a graph&#10;&#10;AI-generated content may be incorrect.">
            <a:extLst>
              <a:ext uri="{FF2B5EF4-FFF2-40B4-BE49-F238E27FC236}">
                <a16:creationId xmlns:a16="http://schemas.microsoft.com/office/drawing/2014/main" id="{FCD3DBB1-7BED-1CB7-CBC8-AE39882653F1}"/>
              </a:ext>
            </a:extLst>
          </p:cNvPr>
          <p:cNvPicPr>
            <a:picLocks noChangeAspect="1"/>
          </p:cNvPicPr>
          <p:nvPr/>
        </p:nvPicPr>
        <p:blipFill>
          <a:blip r:embed="rId3"/>
          <a:srcRect t="28499" b="36224"/>
          <a:stretch>
            <a:fillRect/>
          </a:stretch>
        </p:blipFill>
        <p:spPr>
          <a:xfrm>
            <a:off x="755779" y="2285999"/>
            <a:ext cx="7802626" cy="2752531"/>
          </a:xfrm>
          <a:prstGeom prst="rect">
            <a:avLst/>
          </a:prstGeom>
        </p:spPr>
      </p:pic>
      <p:sp>
        <p:nvSpPr>
          <p:cNvPr id="5" name="Down Arrow 4">
            <a:extLst>
              <a:ext uri="{FF2B5EF4-FFF2-40B4-BE49-F238E27FC236}">
                <a16:creationId xmlns:a16="http://schemas.microsoft.com/office/drawing/2014/main" id="{B6198088-C1E0-391E-609A-DC1F911F3CAF}"/>
              </a:ext>
            </a:extLst>
          </p:cNvPr>
          <p:cNvSpPr/>
          <p:nvPr/>
        </p:nvSpPr>
        <p:spPr bwMode="auto">
          <a:xfrm>
            <a:off x="3760236" y="2043404"/>
            <a:ext cx="46654" cy="998376"/>
          </a:xfrm>
          <a:prstGeom prst="downArrow">
            <a:avLst/>
          </a:prstGeom>
          <a:solidFill>
            <a:schemeClr val="accent1"/>
          </a:solid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ndParaRPr>
          </a:p>
        </p:txBody>
      </p:sp>
      <p:sp>
        <p:nvSpPr>
          <p:cNvPr id="13" name="Content Placeholder 3">
            <a:extLst>
              <a:ext uri="{FF2B5EF4-FFF2-40B4-BE49-F238E27FC236}">
                <a16:creationId xmlns:a16="http://schemas.microsoft.com/office/drawing/2014/main" id="{C319E1A0-E191-D66B-D80C-1A1D9344A025}"/>
              </a:ext>
            </a:extLst>
          </p:cNvPr>
          <p:cNvSpPr txBox="1">
            <a:spLocks/>
          </p:cNvSpPr>
          <p:nvPr/>
        </p:nvSpPr>
        <p:spPr bwMode="auto">
          <a:xfrm>
            <a:off x="2569567" y="1528042"/>
            <a:ext cx="2474646" cy="540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solidFill>
                  <a:srgbClr val="FF0000"/>
                </a:solidFill>
              </a:rPr>
              <a:t>Corr. Lead 2 </a:t>
            </a:r>
            <a:r>
              <a:rPr lang="en-US" kern="0" dirty="0" err="1">
                <a:solidFill>
                  <a:srgbClr val="FF0000"/>
                </a:solidFill>
              </a:rPr>
              <a:t>Anx</a:t>
            </a:r>
            <a:endParaRPr lang="en-US" kern="0" dirty="0">
              <a:solidFill>
                <a:srgbClr val="FF0000"/>
              </a:solidFill>
            </a:endParaRPr>
          </a:p>
        </p:txBody>
      </p:sp>
    </p:spTree>
    <p:extLst>
      <p:ext uri="{BB962C8B-B14F-4D97-AF65-F5344CB8AC3E}">
        <p14:creationId xmlns:p14="http://schemas.microsoft.com/office/powerpoint/2010/main" val="796184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2DA98-9237-155B-D4F3-39FD8466F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3F2F2-CB21-C886-9C69-29529BA50C53}"/>
              </a:ext>
            </a:extLst>
          </p:cNvPr>
          <p:cNvSpPr>
            <a:spLocks noGrp="1"/>
          </p:cNvSpPr>
          <p:nvPr>
            <p:ph type="title"/>
          </p:nvPr>
        </p:nvSpPr>
        <p:spPr/>
        <p:txBody>
          <a:bodyPr/>
          <a:lstStyle/>
          <a:p>
            <a:r>
              <a:rPr lang="en-US" dirty="0"/>
              <a:t>Results: </a:t>
            </a:r>
          </a:p>
        </p:txBody>
      </p:sp>
      <p:pic>
        <p:nvPicPr>
          <p:cNvPr id="4" name="Picture 3" descr="A diagram of a graph&#10;&#10;AI-generated content may be incorrect.">
            <a:extLst>
              <a:ext uri="{FF2B5EF4-FFF2-40B4-BE49-F238E27FC236}">
                <a16:creationId xmlns:a16="http://schemas.microsoft.com/office/drawing/2014/main" id="{2631C196-94D2-586D-50D2-3DD06D8D2287}"/>
              </a:ext>
            </a:extLst>
          </p:cNvPr>
          <p:cNvPicPr>
            <a:picLocks noChangeAspect="1"/>
          </p:cNvPicPr>
          <p:nvPr/>
        </p:nvPicPr>
        <p:blipFill>
          <a:blip r:embed="rId3"/>
          <a:srcRect t="28499" b="36224"/>
          <a:stretch>
            <a:fillRect/>
          </a:stretch>
        </p:blipFill>
        <p:spPr>
          <a:xfrm>
            <a:off x="755779" y="2285999"/>
            <a:ext cx="7802626" cy="2752531"/>
          </a:xfrm>
          <a:prstGeom prst="rect">
            <a:avLst/>
          </a:prstGeom>
        </p:spPr>
      </p:pic>
      <p:sp>
        <p:nvSpPr>
          <p:cNvPr id="10" name="Down Arrow 9">
            <a:extLst>
              <a:ext uri="{FF2B5EF4-FFF2-40B4-BE49-F238E27FC236}">
                <a16:creationId xmlns:a16="http://schemas.microsoft.com/office/drawing/2014/main" id="{14312E0A-D796-5A7A-E764-E1603313D650}"/>
              </a:ext>
            </a:extLst>
          </p:cNvPr>
          <p:cNvSpPr/>
          <p:nvPr/>
        </p:nvSpPr>
        <p:spPr bwMode="auto">
          <a:xfrm rot="10800000">
            <a:off x="5190930" y="3576735"/>
            <a:ext cx="46654" cy="998376"/>
          </a:xfrm>
          <a:prstGeom prst="downArrow">
            <a:avLst/>
          </a:prstGeom>
          <a:solidFill>
            <a:schemeClr val="accent1"/>
          </a:solid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ndParaRPr>
          </a:p>
        </p:txBody>
      </p:sp>
      <p:sp>
        <p:nvSpPr>
          <p:cNvPr id="15" name="Content Placeholder 3">
            <a:extLst>
              <a:ext uri="{FF2B5EF4-FFF2-40B4-BE49-F238E27FC236}">
                <a16:creationId xmlns:a16="http://schemas.microsoft.com/office/drawing/2014/main" id="{49E316E3-75BC-8E32-233A-127D77782E20}"/>
              </a:ext>
            </a:extLst>
          </p:cNvPr>
          <p:cNvSpPr txBox="1">
            <a:spLocks/>
          </p:cNvSpPr>
          <p:nvPr/>
        </p:nvSpPr>
        <p:spPr bwMode="auto">
          <a:xfrm>
            <a:off x="3760236" y="4789933"/>
            <a:ext cx="3251013" cy="540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100" b="0" i="0">
                <a:solidFill>
                  <a:schemeClr val="bg1"/>
                </a:solidFill>
                <a:latin typeface="Avenir Book" panose="02000503020000020003" pitchFamily="2" charset="0"/>
                <a:ea typeface="ＭＳ Ｐゴシック" charset="0"/>
                <a:cs typeface="Avenir Book" panose="02000503020000020003" pitchFamily="2" charset="0"/>
              </a:defRPr>
            </a:lvl1pPr>
            <a:lvl2pPr marL="742950" indent="-28575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1800" b="0" i="0">
                <a:solidFill>
                  <a:schemeClr val="accent3">
                    <a:lumMod val="60000"/>
                    <a:lumOff val="40000"/>
                  </a:schemeClr>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a:lstStyle>
          <a:p>
            <a:pPr marL="0" indent="0" defTabSz="914400">
              <a:buFontTx/>
              <a:buNone/>
            </a:pPr>
            <a:r>
              <a:rPr lang="en-US" kern="0" dirty="0">
                <a:solidFill>
                  <a:srgbClr val="FF0000"/>
                </a:solidFill>
              </a:rPr>
              <a:t>Corr. Immediate Arousal</a:t>
            </a:r>
          </a:p>
        </p:txBody>
      </p:sp>
    </p:spTree>
    <p:extLst>
      <p:ext uri="{BB962C8B-B14F-4D97-AF65-F5344CB8AC3E}">
        <p14:creationId xmlns:p14="http://schemas.microsoft.com/office/powerpoint/2010/main" val="947419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AA344-B3EE-A352-52CA-EBE57B151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C6E65-F4DA-F5D5-C7D5-DE91F5C7F66E}"/>
              </a:ext>
            </a:extLst>
          </p:cNvPr>
          <p:cNvSpPr>
            <a:spLocks noGrp="1"/>
          </p:cNvSpPr>
          <p:nvPr>
            <p:ph type="title"/>
          </p:nvPr>
        </p:nvSpPr>
        <p:spPr/>
        <p:txBody>
          <a:bodyPr/>
          <a:lstStyle/>
          <a:p>
            <a:r>
              <a:rPr lang="en-US" dirty="0"/>
              <a:t>Results: </a:t>
            </a:r>
          </a:p>
        </p:txBody>
      </p:sp>
      <p:pic>
        <p:nvPicPr>
          <p:cNvPr id="5" name="Picture 4" descr="A grey and purple squares with black text&#10;&#10;AI-generated content may be incorrect.">
            <a:extLst>
              <a:ext uri="{FF2B5EF4-FFF2-40B4-BE49-F238E27FC236}">
                <a16:creationId xmlns:a16="http://schemas.microsoft.com/office/drawing/2014/main" id="{002328D0-EAD1-3E80-6576-7DCCC1CDDA41}"/>
              </a:ext>
            </a:extLst>
          </p:cNvPr>
          <p:cNvPicPr>
            <a:picLocks noChangeAspect="1"/>
          </p:cNvPicPr>
          <p:nvPr/>
        </p:nvPicPr>
        <p:blipFill>
          <a:blip r:embed="rId3"/>
          <a:srcRect t="23721" b="25357"/>
          <a:stretch>
            <a:fillRect/>
          </a:stretch>
        </p:blipFill>
        <p:spPr>
          <a:xfrm>
            <a:off x="183159" y="2012004"/>
            <a:ext cx="8913944" cy="2833992"/>
          </a:xfrm>
          <a:prstGeom prst="rect">
            <a:avLst/>
          </a:prstGeom>
        </p:spPr>
      </p:pic>
    </p:spTree>
    <p:extLst>
      <p:ext uri="{BB962C8B-B14F-4D97-AF65-F5344CB8AC3E}">
        <p14:creationId xmlns:p14="http://schemas.microsoft.com/office/powerpoint/2010/main" val="2259134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DBAA8-E3FB-D8E0-93A7-75635B179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C4575-120E-D6DC-48DF-020DD9DCAC78}"/>
              </a:ext>
            </a:extLst>
          </p:cNvPr>
          <p:cNvSpPr>
            <a:spLocks noGrp="1"/>
          </p:cNvSpPr>
          <p:nvPr>
            <p:ph type="title"/>
          </p:nvPr>
        </p:nvSpPr>
        <p:spPr/>
        <p:txBody>
          <a:bodyPr/>
          <a:lstStyle/>
          <a:p>
            <a:r>
              <a:rPr lang="en-US" dirty="0"/>
              <a:t>Conclusions?: </a:t>
            </a:r>
          </a:p>
        </p:txBody>
      </p:sp>
      <p:sp>
        <p:nvSpPr>
          <p:cNvPr id="3" name="Content Placeholder 2">
            <a:extLst>
              <a:ext uri="{FF2B5EF4-FFF2-40B4-BE49-F238E27FC236}">
                <a16:creationId xmlns:a16="http://schemas.microsoft.com/office/drawing/2014/main" id="{F1C14957-BCAB-70E6-ADDC-D077B2448FC3}"/>
              </a:ext>
            </a:extLst>
          </p:cNvPr>
          <p:cNvSpPr>
            <a:spLocks noGrp="1"/>
          </p:cNvSpPr>
          <p:nvPr>
            <p:ph idx="1"/>
          </p:nvPr>
        </p:nvSpPr>
        <p:spPr>
          <a:xfrm>
            <a:off x="367748" y="1745974"/>
            <a:ext cx="8229600" cy="2620963"/>
          </a:xfrm>
        </p:spPr>
        <p:txBody>
          <a:bodyPr/>
          <a:lstStyle/>
          <a:p>
            <a:r>
              <a:rPr lang="en-US" dirty="0"/>
              <a:t>Partial support for hypotheses—dyadic asymmetry is related to some affective linguistic dimensions but most showed no significant association</a:t>
            </a:r>
          </a:p>
          <a:p>
            <a:r>
              <a:rPr lang="en-US" dirty="0"/>
              <a:t>High level theme: effort produces reactivity in the moment but does not build lasting emotional momentum in conversation</a:t>
            </a:r>
          </a:p>
          <a:p>
            <a:r>
              <a:rPr lang="en-US" dirty="0"/>
              <a:t>No alignment (AUC) findings</a:t>
            </a:r>
          </a:p>
          <a:p>
            <a:r>
              <a:rPr lang="en-US" dirty="0"/>
              <a:t>Future work should examine whether alignment and dyadic asymmetry track each other WITHIN conversations</a:t>
            </a:r>
          </a:p>
        </p:txBody>
      </p:sp>
      <p:pic>
        <p:nvPicPr>
          <p:cNvPr id="4" name="Picture 3">
            <a:extLst>
              <a:ext uri="{FF2B5EF4-FFF2-40B4-BE49-F238E27FC236}">
                <a16:creationId xmlns:a16="http://schemas.microsoft.com/office/drawing/2014/main" id="{9B5C1B4F-33F9-9124-7D87-8B7D8A68D24A}"/>
              </a:ext>
            </a:extLst>
          </p:cNvPr>
          <p:cNvPicPr>
            <a:picLocks noChangeAspect="1"/>
          </p:cNvPicPr>
          <p:nvPr/>
        </p:nvPicPr>
        <p:blipFill>
          <a:blip r:embed="rId3"/>
          <a:stretch>
            <a:fillRect/>
          </a:stretch>
        </p:blipFill>
        <p:spPr>
          <a:xfrm>
            <a:off x="1416842" y="4792528"/>
            <a:ext cx="2465961" cy="1871114"/>
          </a:xfrm>
          <a:prstGeom prst="rect">
            <a:avLst/>
          </a:prstGeom>
        </p:spPr>
      </p:pic>
      <p:pic>
        <p:nvPicPr>
          <p:cNvPr id="6" name="Picture 5">
            <a:extLst>
              <a:ext uri="{FF2B5EF4-FFF2-40B4-BE49-F238E27FC236}">
                <a16:creationId xmlns:a16="http://schemas.microsoft.com/office/drawing/2014/main" id="{30CC495B-B718-ED54-2D83-926DBBC8B3F9}"/>
              </a:ext>
            </a:extLst>
          </p:cNvPr>
          <p:cNvPicPr>
            <a:picLocks noChangeAspect="1"/>
          </p:cNvPicPr>
          <p:nvPr/>
        </p:nvPicPr>
        <p:blipFill>
          <a:blip r:embed="rId4"/>
          <a:stretch>
            <a:fillRect/>
          </a:stretch>
        </p:blipFill>
        <p:spPr>
          <a:xfrm>
            <a:off x="5422899" y="4655218"/>
            <a:ext cx="1895521" cy="2036948"/>
          </a:xfrm>
          <a:prstGeom prst="rect">
            <a:avLst/>
          </a:prstGeom>
        </p:spPr>
      </p:pic>
    </p:spTree>
    <p:extLst>
      <p:ext uri="{BB962C8B-B14F-4D97-AF65-F5344CB8AC3E}">
        <p14:creationId xmlns:p14="http://schemas.microsoft.com/office/powerpoint/2010/main" val="3328185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3B94D-CA2D-4B1C-DAFA-E861622BC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E7896-D9BF-B9C1-A34B-AF0F24EB0F6B}"/>
              </a:ext>
            </a:extLst>
          </p:cNvPr>
          <p:cNvSpPr>
            <a:spLocks noGrp="1"/>
          </p:cNvSpPr>
          <p:nvPr>
            <p:ph type="title"/>
          </p:nvPr>
        </p:nvSpPr>
        <p:spPr/>
        <p:txBody>
          <a:bodyPr/>
          <a:lstStyle/>
          <a:p>
            <a:r>
              <a:rPr lang="en-US" dirty="0"/>
              <a:t>References</a:t>
            </a:r>
          </a:p>
        </p:txBody>
      </p:sp>
      <p:pic>
        <p:nvPicPr>
          <p:cNvPr id="4" name="Content Placeholder 3">
            <a:extLst>
              <a:ext uri="{FF2B5EF4-FFF2-40B4-BE49-F238E27FC236}">
                <a16:creationId xmlns:a16="http://schemas.microsoft.com/office/drawing/2014/main" id="{34E7A37F-4A6F-AC80-81A3-3BADBACBAF3D}"/>
              </a:ext>
            </a:extLst>
          </p:cNvPr>
          <p:cNvPicPr>
            <a:picLocks noGrp="1" noChangeAspect="1"/>
          </p:cNvPicPr>
          <p:nvPr>
            <p:ph idx="1"/>
          </p:nvPr>
        </p:nvPicPr>
        <p:blipFill>
          <a:blip r:embed="rId2"/>
          <a:stretch>
            <a:fillRect/>
          </a:stretch>
        </p:blipFill>
        <p:spPr>
          <a:xfrm>
            <a:off x="3154074" y="1746250"/>
            <a:ext cx="2658052" cy="2620963"/>
          </a:xfrm>
          <a:prstGeom prst="rect">
            <a:avLst/>
          </a:prstGeom>
        </p:spPr>
      </p:pic>
    </p:spTree>
    <p:extLst>
      <p:ext uri="{BB962C8B-B14F-4D97-AF65-F5344CB8AC3E}">
        <p14:creationId xmlns:p14="http://schemas.microsoft.com/office/powerpoint/2010/main" val="1436469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75050-FAE4-CB1C-DBF9-4791A9C31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F8999-91CF-358D-6F37-AE502787C05B}"/>
              </a:ext>
            </a:extLst>
          </p:cNvPr>
          <p:cNvSpPr>
            <a:spLocks noGrp="1"/>
          </p:cNvSpPr>
          <p:nvPr>
            <p:ph type="title"/>
          </p:nvPr>
        </p:nvSpPr>
        <p:spPr/>
        <p:txBody>
          <a:bodyPr/>
          <a:lstStyle/>
          <a:p>
            <a:r>
              <a:rPr lang="en-US" dirty="0"/>
              <a:t>Questions?</a:t>
            </a:r>
          </a:p>
        </p:txBody>
      </p:sp>
      <p:pic>
        <p:nvPicPr>
          <p:cNvPr id="7" name="Content Placeholder 6" descr="A fish swimming under water&#10;&#10;AI-generated content may be incorrect.">
            <a:extLst>
              <a:ext uri="{FF2B5EF4-FFF2-40B4-BE49-F238E27FC236}">
                <a16:creationId xmlns:a16="http://schemas.microsoft.com/office/drawing/2014/main" id="{2CBC6E75-223A-7885-281E-39D96C3B46EF}"/>
              </a:ext>
            </a:extLst>
          </p:cNvPr>
          <p:cNvPicPr>
            <a:picLocks noGrp="1" noChangeAspect="1"/>
          </p:cNvPicPr>
          <p:nvPr>
            <p:ph idx="1"/>
          </p:nvPr>
        </p:nvPicPr>
        <p:blipFill>
          <a:blip r:embed="rId2"/>
          <a:stretch>
            <a:fillRect/>
          </a:stretch>
        </p:blipFill>
        <p:spPr>
          <a:xfrm>
            <a:off x="2810569" y="1530350"/>
            <a:ext cx="3522861" cy="4697149"/>
          </a:xfrm>
        </p:spPr>
      </p:pic>
    </p:spTree>
    <p:extLst>
      <p:ext uri="{BB962C8B-B14F-4D97-AF65-F5344CB8AC3E}">
        <p14:creationId xmlns:p14="http://schemas.microsoft.com/office/powerpoint/2010/main" val="991691396"/>
      </p:ext>
    </p:extLst>
  </p:cSld>
  <p:clrMapOvr>
    <a:masterClrMapping/>
  </p:clrMapOvr>
</p:sld>
</file>

<file path=ppt/theme/theme1.xml><?xml version="1.0" encoding="utf-8"?>
<a:theme xmlns:a="http://schemas.openxmlformats.org/drawingml/2006/main" name="JamieLab2014">
  <a:themeElements>
    <a:clrScheme name="Custom 12">
      <a:dk1>
        <a:srgbClr val="000000"/>
      </a:dk1>
      <a:lt1>
        <a:srgbClr val="000000"/>
      </a:lt1>
      <a:dk2>
        <a:srgbClr val="000000"/>
      </a:dk2>
      <a:lt2>
        <a:srgbClr val="000000"/>
      </a:lt2>
      <a:accent1>
        <a:srgbClr val="1E4649"/>
      </a:accent1>
      <a:accent2>
        <a:srgbClr val="333399"/>
      </a:accent2>
      <a:accent3>
        <a:srgbClr val="7F7F7F"/>
      </a:accent3>
      <a:accent4>
        <a:srgbClr val="000000"/>
      </a:accent4>
      <a:accent5>
        <a:srgbClr val="1E4649"/>
      </a:accent5>
      <a:accent6>
        <a:srgbClr val="2D2D8A"/>
      </a:accent6>
      <a:hlink>
        <a:srgbClr val="4C6600"/>
      </a:hlink>
      <a:folHlink>
        <a:srgbClr val="4C6600"/>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eillyLab_PPT_Template2026" id="{C5142F3F-53BC-2F4A-8A85-B0B7D12C2C01}" vid="{D29BFE51-49DD-0F4A-8254-1507B419CA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2006</TotalTime>
  <Words>1243</Words>
  <Application>Microsoft Macintosh PowerPoint</Application>
  <PresentationFormat>On-screen Show (4:3)</PresentationFormat>
  <Paragraphs>119</Paragraphs>
  <Slides>19</Slides>
  <Notes>4</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Avenir</vt:lpstr>
      <vt:lpstr>Avenir Book</vt:lpstr>
      <vt:lpstr>Calibri</vt:lpstr>
      <vt:lpstr>Myriad Pro</vt:lpstr>
      <vt:lpstr>JamieLab2014</vt:lpstr>
      <vt:lpstr>PowerPoint Presentation</vt:lpstr>
      <vt:lpstr>Introduction</vt:lpstr>
      <vt:lpstr>Introduction</vt:lpstr>
      <vt:lpstr>Introduction</vt:lpstr>
      <vt:lpstr>Introduction</vt:lpstr>
      <vt:lpstr>Research Question</vt:lpstr>
      <vt:lpstr>Hypothesis</vt:lpstr>
      <vt:lpstr>Methods: </vt:lpstr>
      <vt:lpstr>Methods: </vt:lpstr>
      <vt:lpstr>Methods: </vt:lpstr>
      <vt:lpstr>Methods: </vt:lpstr>
      <vt:lpstr>Methods: </vt:lpstr>
      <vt:lpstr>Results: </vt:lpstr>
      <vt:lpstr>Results: </vt:lpstr>
      <vt:lpstr>Results: </vt:lpstr>
      <vt:lpstr>Results: </vt:lpstr>
      <vt:lpstr>Conclusions?: </vt:lpstr>
      <vt:lpstr>References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Reilly</dc:creator>
  <cp:lastModifiedBy>Shawn Wang</cp:lastModifiedBy>
  <cp:revision>30</cp:revision>
  <cp:lastPrinted>2018-11-26T14:05:20Z</cp:lastPrinted>
  <dcterms:created xsi:type="dcterms:W3CDTF">2023-12-26T00:07:16Z</dcterms:created>
  <dcterms:modified xsi:type="dcterms:W3CDTF">2026-05-04T17:59:32Z</dcterms:modified>
</cp:coreProperties>
</file>